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4"/>
  </p:sldMasterIdLst>
  <p:notesMasterIdLst>
    <p:notesMasterId r:id="rId6"/>
  </p:notesMasterIdLst>
  <p:sldIdLst>
    <p:sldId id="258" r:id="rId5"/>
  </p:sldIdLst>
  <p:sldSz cx="21383625" cy="30275213"/>
  <p:notesSz cx="14224000" cy="20104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37" userDrawn="1">
          <p15:clr>
            <a:srgbClr val="A4A3A4"/>
          </p15:clr>
        </p15:guide>
        <p15:guide id="2" pos="32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9B"/>
    <a:srgbClr val="002EFF"/>
    <a:srgbClr val="008080"/>
    <a:srgbClr val="FFFC06"/>
    <a:srgbClr val="FF0000"/>
    <a:srgbClr val="00C9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80" autoAdjust="0"/>
    <p:restoredTop sz="96290"/>
  </p:normalViewPr>
  <p:slideViewPr>
    <p:cSldViewPr snapToGrid="0">
      <p:cViewPr>
        <p:scale>
          <a:sx n="76" d="100"/>
          <a:sy n="76" d="100"/>
        </p:scale>
        <p:origin x="3528" y="-4896"/>
      </p:cViewPr>
      <p:guideLst>
        <p:guide orient="horz" pos="4337"/>
        <p:guide pos="32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64263" cy="1008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8056563" y="0"/>
            <a:ext cx="6164262" cy="1008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144E1-2D0A-45BB-A1AE-CFE79F1E708C}" type="datetimeFigureOut">
              <a:rPr lang="de-DE" smtClean="0"/>
              <a:t>11.06.26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16463" y="2513013"/>
            <a:ext cx="4791075" cy="6784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422400" y="9675813"/>
            <a:ext cx="11379200" cy="79152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9096038"/>
            <a:ext cx="6164263" cy="1008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8056563" y="19096038"/>
            <a:ext cx="6164262" cy="1008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43B7C-279B-4EA3-A17C-D9339B6A309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484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5906" rtl="0" eaLnBrk="1" latinLnBrk="0" hangingPunct="1">
      <a:defRPr sz="1806" kern="1200">
        <a:solidFill>
          <a:schemeClr val="tx1"/>
        </a:solidFill>
        <a:latin typeface="+mn-lt"/>
        <a:ea typeface="+mn-ea"/>
        <a:cs typeface="+mn-cs"/>
      </a:defRPr>
    </a:lvl1pPr>
    <a:lvl2pPr marL="687954" algn="l" defTabSz="1375906" rtl="0" eaLnBrk="1" latinLnBrk="0" hangingPunct="1">
      <a:defRPr sz="1806" kern="1200">
        <a:solidFill>
          <a:schemeClr val="tx1"/>
        </a:solidFill>
        <a:latin typeface="+mn-lt"/>
        <a:ea typeface="+mn-ea"/>
        <a:cs typeface="+mn-cs"/>
      </a:defRPr>
    </a:lvl2pPr>
    <a:lvl3pPr marL="1375906" algn="l" defTabSz="1375906" rtl="0" eaLnBrk="1" latinLnBrk="0" hangingPunct="1">
      <a:defRPr sz="1806" kern="1200">
        <a:solidFill>
          <a:schemeClr val="tx1"/>
        </a:solidFill>
        <a:latin typeface="+mn-lt"/>
        <a:ea typeface="+mn-ea"/>
        <a:cs typeface="+mn-cs"/>
      </a:defRPr>
    </a:lvl3pPr>
    <a:lvl4pPr marL="2063859" algn="l" defTabSz="1375906" rtl="0" eaLnBrk="1" latinLnBrk="0" hangingPunct="1">
      <a:defRPr sz="1806" kern="1200">
        <a:solidFill>
          <a:schemeClr val="tx1"/>
        </a:solidFill>
        <a:latin typeface="+mn-lt"/>
        <a:ea typeface="+mn-ea"/>
        <a:cs typeface="+mn-cs"/>
      </a:defRPr>
    </a:lvl4pPr>
    <a:lvl5pPr marL="2751811" algn="l" defTabSz="1375906" rtl="0" eaLnBrk="1" latinLnBrk="0" hangingPunct="1">
      <a:defRPr sz="1806" kern="1200">
        <a:solidFill>
          <a:schemeClr val="tx1"/>
        </a:solidFill>
        <a:latin typeface="+mn-lt"/>
        <a:ea typeface="+mn-ea"/>
        <a:cs typeface="+mn-cs"/>
      </a:defRPr>
    </a:lvl5pPr>
    <a:lvl6pPr marL="3439765" algn="l" defTabSz="1375906" rtl="0" eaLnBrk="1" latinLnBrk="0" hangingPunct="1">
      <a:defRPr sz="1806" kern="1200">
        <a:solidFill>
          <a:schemeClr val="tx1"/>
        </a:solidFill>
        <a:latin typeface="+mn-lt"/>
        <a:ea typeface="+mn-ea"/>
        <a:cs typeface="+mn-cs"/>
      </a:defRPr>
    </a:lvl6pPr>
    <a:lvl7pPr marL="4127718" algn="l" defTabSz="1375906" rtl="0" eaLnBrk="1" latinLnBrk="0" hangingPunct="1">
      <a:defRPr sz="1806" kern="1200">
        <a:solidFill>
          <a:schemeClr val="tx1"/>
        </a:solidFill>
        <a:latin typeface="+mn-lt"/>
        <a:ea typeface="+mn-ea"/>
        <a:cs typeface="+mn-cs"/>
      </a:defRPr>
    </a:lvl7pPr>
    <a:lvl8pPr marL="4815671" algn="l" defTabSz="1375906" rtl="0" eaLnBrk="1" latinLnBrk="0" hangingPunct="1">
      <a:defRPr sz="1806" kern="1200">
        <a:solidFill>
          <a:schemeClr val="tx1"/>
        </a:solidFill>
        <a:latin typeface="+mn-lt"/>
        <a:ea typeface="+mn-ea"/>
        <a:cs typeface="+mn-cs"/>
      </a:defRPr>
    </a:lvl8pPr>
    <a:lvl9pPr marL="5503624" algn="l" defTabSz="1375906" rtl="0" eaLnBrk="1" latinLnBrk="0" hangingPunct="1">
      <a:defRPr sz="18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992EC-1BDF-21E5-9EFB-B5D6D315B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F607EC8-7719-5D6A-BBA0-16356F11C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57CC515-BCBC-8074-194F-06628618C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0ACB54-7E80-73C0-C204-E060CB2D7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43B7C-279B-4EA3-A17C-D9339B6A309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237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1383625" cy="302752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8491" y="3401291"/>
            <a:ext cx="18911143" cy="14801215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18708" spc="-281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0755" y="18534227"/>
            <a:ext cx="16185400" cy="7266051"/>
          </a:xfrm>
        </p:spPr>
        <p:txBody>
          <a:bodyPr>
            <a:normAutofit/>
          </a:bodyPr>
          <a:lstStyle>
            <a:lvl1pPr marL="0" indent="0" algn="l">
              <a:buNone/>
              <a:defRPr sz="6548">
                <a:solidFill>
                  <a:schemeClr val="bg1"/>
                </a:solidFill>
                <a:latin typeface="+mj-lt"/>
              </a:defRPr>
            </a:lvl1pPr>
            <a:lvl2pPr marL="1069162" indent="0" algn="ctr">
              <a:buNone/>
              <a:defRPr sz="6548"/>
            </a:lvl2pPr>
            <a:lvl3pPr marL="2138324" indent="0" algn="ctr">
              <a:buNone/>
              <a:defRPr sz="5612"/>
            </a:lvl3pPr>
            <a:lvl4pPr marL="3207487" indent="0" algn="ctr">
              <a:buNone/>
              <a:defRPr sz="4677"/>
            </a:lvl4pPr>
            <a:lvl5pPr marL="4276649" indent="0" algn="ctr">
              <a:buNone/>
              <a:defRPr sz="4677"/>
            </a:lvl5pPr>
            <a:lvl6pPr marL="5345811" indent="0" algn="ctr">
              <a:buNone/>
              <a:defRPr sz="4677"/>
            </a:lvl6pPr>
            <a:lvl7pPr marL="6414973" indent="0" algn="ctr">
              <a:buNone/>
              <a:defRPr sz="4677"/>
            </a:lvl7pPr>
            <a:lvl8pPr marL="7484135" indent="0" algn="ctr">
              <a:buNone/>
              <a:defRPr sz="4677"/>
            </a:lvl8pPr>
            <a:lvl9pPr marL="8553298" indent="0" algn="ctr">
              <a:buNone/>
              <a:defRPr sz="4677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6F15528-21DE-4FAA-801E-634DDDAF4B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7491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418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490" y="3387835"/>
            <a:ext cx="18908470" cy="14814671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18708" b="0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0754" y="18485075"/>
            <a:ext cx="16182058" cy="7266051"/>
          </a:xfrm>
        </p:spPr>
        <p:txBody>
          <a:bodyPr anchor="t">
            <a:normAutofit/>
          </a:bodyPr>
          <a:lstStyle>
            <a:lvl1pPr marL="0" indent="0">
              <a:buNone/>
              <a:defRPr sz="6548">
                <a:solidFill>
                  <a:schemeClr val="tx1"/>
                </a:solidFill>
                <a:latin typeface="+mj-lt"/>
              </a:defRPr>
            </a:lvl1pPr>
            <a:lvl2pPr marL="1069162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2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5362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791" y="8799995"/>
            <a:ext cx="8900934" cy="16631184"/>
          </a:xfrm>
        </p:spPr>
        <p:txBody>
          <a:bodyPr/>
          <a:lstStyle>
            <a:lvl1pPr>
              <a:defRPr sz="5145"/>
            </a:lvl1pPr>
            <a:lvl2pPr>
              <a:defRPr sz="4443"/>
            </a:lvl2pPr>
            <a:lvl3pPr>
              <a:defRPr sz="3975"/>
            </a:lvl3pPr>
            <a:lvl4pPr>
              <a:defRPr sz="3508"/>
            </a:lvl4pPr>
            <a:lvl5pPr>
              <a:defRPr sz="3274"/>
            </a:lvl5pPr>
            <a:lvl6pPr>
              <a:defRPr sz="3274"/>
            </a:lvl6pPr>
            <a:lvl7pPr>
              <a:defRPr sz="3274"/>
            </a:lvl7pPr>
            <a:lvl8pPr>
              <a:defRPr sz="3274"/>
            </a:lvl8pPr>
            <a:lvl9pPr>
              <a:defRPr sz="3274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26169" y="8799995"/>
            <a:ext cx="8900934" cy="16631184"/>
          </a:xfrm>
        </p:spPr>
        <p:txBody>
          <a:bodyPr/>
          <a:lstStyle>
            <a:lvl1pPr>
              <a:defRPr sz="5145"/>
            </a:lvl1pPr>
            <a:lvl2pPr>
              <a:defRPr sz="4443"/>
            </a:lvl2pPr>
            <a:lvl3pPr>
              <a:defRPr sz="3975"/>
            </a:lvl3pPr>
            <a:lvl4pPr>
              <a:defRPr sz="3508"/>
            </a:lvl4pPr>
            <a:lvl5pPr>
              <a:defRPr sz="3274"/>
            </a:lvl5pPr>
            <a:lvl6pPr>
              <a:defRPr sz="3274"/>
            </a:lvl6pPr>
            <a:lvl7pPr>
              <a:defRPr sz="3274"/>
            </a:lvl7pPr>
            <a:lvl8pPr>
              <a:defRPr sz="3274"/>
            </a:lvl8pPr>
            <a:lvl9pPr>
              <a:defRPr sz="3274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58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6791" y="8970433"/>
            <a:ext cx="8900934" cy="319351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4677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91" y="12078962"/>
            <a:ext cx="8900934" cy="14128433"/>
          </a:xfrm>
        </p:spPr>
        <p:txBody>
          <a:bodyPr/>
          <a:lstStyle>
            <a:lvl1pPr>
              <a:defRPr sz="4911"/>
            </a:lvl1pPr>
            <a:lvl2pPr>
              <a:defRPr sz="4209"/>
            </a:lvl2pPr>
            <a:lvl3pPr>
              <a:defRPr sz="3742"/>
            </a:lvl3pPr>
            <a:lvl4pPr>
              <a:defRPr sz="3274"/>
            </a:lvl4pPr>
            <a:lvl5pPr>
              <a:defRPr sz="3274"/>
            </a:lvl5pPr>
            <a:lvl6pPr>
              <a:defRPr sz="3274"/>
            </a:lvl6pPr>
            <a:lvl7pPr>
              <a:defRPr sz="3274"/>
            </a:lvl7pPr>
            <a:lvl8pPr>
              <a:defRPr sz="3274"/>
            </a:lvl8pPr>
            <a:lvl9pPr>
              <a:defRPr sz="3274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46214" y="8961463"/>
            <a:ext cx="8900934" cy="3188989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4677" b="0" cap="all" baseline="0">
                <a:latin typeface="+mj-lt"/>
              </a:defRPr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46214" y="12069718"/>
            <a:ext cx="8900934" cy="14128433"/>
          </a:xfrm>
        </p:spPr>
        <p:txBody>
          <a:bodyPr/>
          <a:lstStyle>
            <a:lvl1pPr>
              <a:defRPr sz="4911"/>
            </a:lvl1pPr>
            <a:lvl2pPr>
              <a:defRPr sz="4209"/>
            </a:lvl2pPr>
            <a:lvl3pPr>
              <a:defRPr sz="3742"/>
            </a:lvl3pPr>
            <a:lvl4pPr>
              <a:defRPr sz="3274"/>
            </a:lvl4pPr>
            <a:lvl5pPr>
              <a:defRPr sz="3274"/>
            </a:lvl5pPr>
            <a:lvl6pPr>
              <a:defRPr sz="3274"/>
            </a:lvl6pPr>
            <a:lvl7pPr>
              <a:defRPr sz="3274"/>
            </a:lvl7pPr>
            <a:lvl8pPr>
              <a:defRPr sz="3274"/>
            </a:lvl8pPr>
            <a:lvl9pPr>
              <a:defRPr sz="3274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411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0803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4189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64766" y="0"/>
            <a:ext cx="8018859" cy="302752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4489728" y="2393949"/>
            <a:ext cx="5933956" cy="847706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8419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6476" y="3363913"/>
            <a:ext cx="10691813" cy="20183475"/>
          </a:xfrm>
        </p:spPr>
        <p:txBody>
          <a:bodyPr/>
          <a:lstStyle>
            <a:lvl1pPr>
              <a:defRPr sz="5145"/>
            </a:lvl1pPr>
            <a:lvl2pPr>
              <a:defRPr sz="4443"/>
            </a:lvl2pPr>
            <a:lvl3pPr>
              <a:defRPr sz="3975"/>
            </a:lvl3pPr>
            <a:lvl4pPr>
              <a:defRPr sz="3508"/>
            </a:lvl4pPr>
            <a:lvl5pPr>
              <a:defRPr sz="3274"/>
            </a:lvl5pPr>
            <a:lvl6pPr>
              <a:defRPr sz="3274"/>
            </a:lvl6pPr>
            <a:lvl7pPr>
              <a:defRPr sz="3274"/>
            </a:lvl7pPr>
            <a:lvl8pPr>
              <a:defRPr sz="3274"/>
            </a:lvl8pPr>
            <a:lvl9pPr>
              <a:defRPr sz="3274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15298" y="11088610"/>
            <a:ext cx="5960685" cy="13804345"/>
          </a:xfrm>
        </p:spPr>
        <p:txBody>
          <a:bodyPr>
            <a:normAutofit/>
          </a:bodyPr>
          <a:lstStyle>
            <a:lvl1pPr marL="0" marR="0" indent="0" algn="l" defTabSz="2138324" rtl="0" eaLnBrk="1" fontAlgn="auto" latinLnBrk="0" hangingPunct="1">
              <a:lnSpc>
                <a:spcPct val="100000"/>
              </a:lnSpc>
              <a:spcBef>
                <a:spcPts val="2806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8">
                <a:solidFill>
                  <a:srgbClr val="404040"/>
                </a:solidFill>
              </a:defRPr>
            </a:lvl1pPr>
            <a:lvl2pPr marL="1069162" indent="0">
              <a:buNone/>
              <a:defRPr sz="2806"/>
            </a:lvl2pPr>
            <a:lvl3pPr marL="2138324" indent="0">
              <a:buNone/>
              <a:defRPr sz="2339"/>
            </a:lvl3pPr>
            <a:lvl4pPr marL="3207487" indent="0">
              <a:buNone/>
              <a:defRPr sz="2105"/>
            </a:lvl4pPr>
            <a:lvl5pPr marL="4276649" indent="0">
              <a:buNone/>
              <a:defRPr sz="2105"/>
            </a:lvl5pPr>
            <a:lvl6pPr marL="5345811" indent="0">
              <a:buNone/>
              <a:defRPr sz="2105"/>
            </a:lvl6pPr>
            <a:lvl7pPr marL="6414973" indent="0">
              <a:buNone/>
              <a:defRPr sz="2105"/>
            </a:lvl7pPr>
            <a:lvl8pPr marL="7484135" indent="0">
              <a:buNone/>
              <a:defRPr sz="2105"/>
            </a:lvl8pPr>
            <a:lvl9pPr marL="8553298" indent="0">
              <a:buNone/>
              <a:defRPr sz="2105"/>
            </a:lvl9pPr>
          </a:lstStyle>
          <a:p>
            <a:pPr marL="0" marR="0" lvl="0" indent="0" algn="l" defTabSz="2138324" rtl="0" eaLnBrk="1" fontAlgn="auto" latinLnBrk="0" hangingPunct="1">
              <a:lnSpc>
                <a:spcPct val="100000"/>
              </a:lnSpc>
              <a:spcBef>
                <a:spcPts val="327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6F15528-21DE-4FAA-801E-634DDDAF4B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351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678" y="23921164"/>
            <a:ext cx="18908470" cy="2707389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548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21383625" cy="2353393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1871"/>
              </a:spcBef>
              <a:buNone/>
              <a:defRPr sz="7483">
                <a:solidFill>
                  <a:srgbClr val="4D4D4D"/>
                </a:solidFill>
              </a:defRPr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86791" y="26089018"/>
            <a:ext cx="16187404" cy="2354739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2806"/>
              </a:spcBef>
              <a:buNone/>
              <a:defRPr sz="3274">
                <a:solidFill>
                  <a:srgbClr val="262626"/>
                </a:solidFill>
              </a:defRPr>
            </a:lvl1pPr>
            <a:lvl2pPr marL="1069162" indent="0">
              <a:buNone/>
              <a:defRPr sz="2806"/>
            </a:lvl2pPr>
            <a:lvl3pPr marL="2138324" indent="0">
              <a:buNone/>
              <a:defRPr sz="2339"/>
            </a:lvl3pPr>
            <a:lvl4pPr marL="3207487" indent="0">
              <a:buNone/>
              <a:defRPr sz="2105"/>
            </a:lvl4pPr>
            <a:lvl5pPr marL="4276649" indent="0">
              <a:buNone/>
              <a:defRPr sz="2105"/>
            </a:lvl5pPr>
            <a:lvl6pPr marL="5345811" indent="0">
              <a:buNone/>
              <a:defRPr sz="2105"/>
            </a:lvl6pPr>
            <a:lvl7pPr marL="6414973" indent="0">
              <a:buNone/>
              <a:defRPr sz="2105"/>
            </a:lvl7pPr>
            <a:lvl8pPr marL="7484135" indent="0">
              <a:buNone/>
              <a:defRPr sz="2105"/>
            </a:lvl8pPr>
            <a:lvl9pPr marL="8553298" indent="0">
              <a:buNone/>
              <a:defRPr sz="210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6F15528-21DE-4FAA-801E-634DDDAF4B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9238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884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36071" y="3069570"/>
            <a:ext cx="4610844" cy="2119264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53184" y="3153675"/>
            <a:ext cx="13565237" cy="2384173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4946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185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5A9B"/>
            </a:gs>
            <a:gs pos="100000">
              <a:schemeClr val="accent1">
                <a:lumMod val="0"/>
                <a:lumOff val="100000"/>
                <a:alpha val="58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52713" y="2205230"/>
            <a:ext cx="18894437" cy="73202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6122" y="8800002"/>
            <a:ext cx="18861026" cy="16626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829" y="28308282"/>
            <a:ext cx="7216973" cy="10091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22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2829" y="28936256"/>
            <a:ext cx="8820745" cy="10091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22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96852" y="25735911"/>
            <a:ext cx="5132070" cy="61673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1047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052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1225" kern="1200" spc="-281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3832" indent="-213832" algn="l" defTabSz="2138324" rtl="0" eaLnBrk="1" latinLnBrk="0" hangingPunct="1">
        <a:lnSpc>
          <a:spcPct val="85000"/>
        </a:lnSpc>
        <a:spcBef>
          <a:spcPts val="3040"/>
        </a:spcBef>
        <a:buFont typeface="Arial" pitchFamily="34" charset="0"/>
        <a:buChar char=" "/>
        <a:defRPr sz="561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41497" indent="-801872" algn="l" defTabSz="2138324" rtl="0" eaLnBrk="1" latinLnBrk="0" hangingPunct="1">
        <a:lnSpc>
          <a:spcPct val="85000"/>
        </a:lnSpc>
        <a:spcBef>
          <a:spcPts val="1403"/>
        </a:spcBef>
        <a:buFont typeface="Arial" pitchFamily="34" charset="0"/>
        <a:buChar char=" "/>
        <a:defRPr sz="5612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82995" indent="-1282995" algn="l" defTabSz="2138324" rtl="0" eaLnBrk="1" latinLnBrk="0" hangingPunct="1">
        <a:lnSpc>
          <a:spcPct val="85000"/>
        </a:lnSpc>
        <a:spcBef>
          <a:spcPts val="1403"/>
        </a:spcBef>
        <a:buFont typeface="Arial" pitchFamily="34" charset="0"/>
        <a:buChar char=" "/>
        <a:defRPr sz="4677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924492" indent="-1924492" algn="l" defTabSz="2138324" rtl="0" eaLnBrk="1" latinLnBrk="0" hangingPunct="1">
        <a:lnSpc>
          <a:spcPct val="85000"/>
        </a:lnSpc>
        <a:spcBef>
          <a:spcPts val="1403"/>
        </a:spcBef>
        <a:buFont typeface="Arial" pitchFamily="34" charset="0"/>
        <a:buChar char=" "/>
        <a:defRPr sz="420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565989" indent="-2565989" algn="l" defTabSz="2138324" rtl="0" eaLnBrk="1" latinLnBrk="0" hangingPunct="1">
        <a:lnSpc>
          <a:spcPct val="85000"/>
        </a:lnSpc>
        <a:spcBef>
          <a:spcPts val="1403"/>
        </a:spcBef>
        <a:buFont typeface="Arial" pitchFamily="34" charset="0"/>
        <a:buChar char=" "/>
        <a:defRPr sz="420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806200" indent="-534581" algn="l" defTabSz="2138324" rtl="0" eaLnBrk="1" latinLnBrk="0" hangingPunct="1">
        <a:lnSpc>
          <a:spcPct val="85000"/>
        </a:lnSpc>
        <a:spcBef>
          <a:spcPts val="1403"/>
        </a:spcBef>
        <a:buFont typeface="Arial" pitchFamily="34" charset="0"/>
        <a:buChar char=" "/>
        <a:defRPr sz="420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3273900" indent="-534581" algn="l" defTabSz="2138324" rtl="0" eaLnBrk="1" latinLnBrk="0" hangingPunct="1">
        <a:lnSpc>
          <a:spcPct val="85000"/>
        </a:lnSpc>
        <a:spcBef>
          <a:spcPts val="1403"/>
        </a:spcBef>
        <a:buFont typeface="Arial" pitchFamily="34" charset="0"/>
        <a:buChar char=" "/>
        <a:defRPr sz="420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741600" indent="-534581" algn="l" defTabSz="2138324" rtl="0" eaLnBrk="1" latinLnBrk="0" hangingPunct="1">
        <a:lnSpc>
          <a:spcPct val="85000"/>
        </a:lnSpc>
        <a:spcBef>
          <a:spcPts val="1403"/>
        </a:spcBef>
        <a:buFont typeface="Arial" pitchFamily="34" charset="0"/>
        <a:buChar char=" "/>
        <a:defRPr sz="420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4209300" indent="-534581" algn="l" defTabSz="2138324" rtl="0" eaLnBrk="1" latinLnBrk="0" hangingPunct="1">
        <a:lnSpc>
          <a:spcPct val="85000"/>
        </a:lnSpc>
        <a:spcBef>
          <a:spcPts val="1403"/>
        </a:spcBef>
        <a:buFont typeface="Arial" pitchFamily="34" charset="0"/>
        <a:buChar char=" "/>
        <a:defRPr sz="4209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accent1">
                <a:lumMod val="0"/>
                <a:lumOff val="100000"/>
                <a:alpha val="58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F4AB12-5D9D-6E77-B24E-94C24E3A5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D353777-2192-B06C-FD06-E854CF8D9CD9}"/>
              </a:ext>
            </a:extLst>
          </p:cNvPr>
          <p:cNvGrpSpPr/>
          <p:nvPr/>
        </p:nvGrpSpPr>
        <p:grpSpPr>
          <a:xfrm>
            <a:off x="244800" y="3931766"/>
            <a:ext cx="10475890" cy="7050262"/>
            <a:chOff x="887765" y="8560265"/>
            <a:chExt cx="9611254" cy="5452631"/>
          </a:xfrm>
        </p:grpSpPr>
        <p:sp>
          <p:nvSpPr>
            <p:cNvPr id="61" name="object 31">
              <a:extLst>
                <a:ext uri="{FF2B5EF4-FFF2-40B4-BE49-F238E27FC236}">
                  <a16:creationId xmlns:a16="http://schemas.microsoft.com/office/drawing/2014/main" id="{DD4B95DF-3DB3-A1EE-12E4-FA740C9DDA3B}"/>
                </a:ext>
              </a:extLst>
            </p:cNvPr>
            <p:cNvSpPr txBox="1"/>
            <p:nvPr/>
          </p:nvSpPr>
          <p:spPr>
            <a:xfrm>
              <a:off x="1114940" y="8560265"/>
              <a:ext cx="6394307" cy="391373"/>
            </a:xfrm>
            <a:prstGeom prst="rect">
              <a:avLst/>
            </a:prstGeom>
          </p:spPr>
          <p:txBody>
            <a:bodyPr vert="horz" wrap="square" lIns="0" tIns="21002" rIns="0" bIns="0" rtlCol="0">
              <a:spAutoFit/>
            </a:bodyPr>
            <a:lstStyle/>
            <a:p>
              <a:pPr marL="19092">
                <a:spcBef>
                  <a:spcPts val="165"/>
                </a:spcBef>
              </a:pPr>
              <a:r>
                <a:rPr lang="de-DE" sz="3608" b="1" spc="-56" baseline="1388" noProof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Research Area</a:t>
              </a:r>
              <a:endParaRPr lang="de-DE" sz="3608" baseline="1388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6E1F057C-4695-5130-0411-C7B39E73C19B}"/>
                </a:ext>
              </a:extLst>
            </p:cNvPr>
            <p:cNvGrpSpPr/>
            <p:nvPr/>
          </p:nvGrpSpPr>
          <p:grpSpPr>
            <a:xfrm>
              <a:off x="887765" y="8560278"/>
              <a:ext cx="9611254" cy="5452618"/>
              <a:chOff x="604933" y="5626821"/>
              <a:chExt cx="6393232" cy="3562725"/>
            </a:xfrm>
          </p:grpSpPr>
          <p:sp>
            <p:nvSpPr>
              <p:cNvPr id="129" name="Rechteck 128">
                <a:extLst>
                  <a:ext uri="{FF2B5EF4-FFF2-40B4-BE49-F238E27FC236}">
                    <a16:creationId xmlns:a16="http://schemas.microsoft.com/office/drawing/2014/main" id="{DFFB609B-7652-E1C6-2CF0-7E9AA4F1704C}"/>
                  </a:ext>
                </a:extLst>
              </p:cNvPr>
              <p:cNvSpPr/>
              <p:nvPr/>
            </p:nvSpPr>
            <p:spPr>
              <a:xfrm>
                <a:off x="604933" y="5848653"/>
                <a:ext cx="6393232" cy="3340893"/>
              </a:xfrm>
              <a:prstGeom prst="rect">
                <a:avLst/>
              </a:prstGeom>
              <a:solidFill>
                <a:schemeClr val="bg1"/>
              </a:solidFill>
              <a:ln>
                <a:gradFill flip="none" rotWithShape="1">
                  <a:gsLst>
                    <a:gs pos="0">
                      <a:srgbClr val="005A9B"/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de-DE" sz="2400" b="1" spc="-23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Erkannte Barriere Faktoren</a:t>
                </a:r>
                <a:r>
                  <a:rPr lang="de-DE" sz="2400" spc="-23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sz="2400" spc="-23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Hohe Anschaffungskosten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sz="2400" spc="-23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Mangelnde Ladeinfrastruktur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sz="2400" spc="-23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Unsicherheit über Reichweite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sz="2400" spc="-23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Informationsdefizite zu neuer Technologie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de-DE" sz="2400" spc="-23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de-DE" sz="2400" b="1" spc="-23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Erkannte Motivation: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sz="2400" spc="-23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Wirtschaftliche Förderungen (Steuern, Unterhaltskosten)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sz="2400" spc="-23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Ökologische Aspekte	(Emissionsreduktion, Geräuschreduktion)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de-DE" sz="2400" b="1" spc="-23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de-DE" sz="2400" b="1" spc="-23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Identifizierte Herausforderungen: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sz="2400" spc="-23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50% der Nutzer sind auf öffentliche Ladeinfrastruktur angewiesen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sz="2400" spc="-23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Standortwahl für gute Auslastung und wirtschaftliche Rentabilität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sz="2400" spc="-23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Netzinfrastruktur muss für maximale Auslastung geeignet sein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de-DE" sz="2400" spc="-23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de-DE" sz="2400" b="1" spc="-23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Forschungslücken: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sz="2400" spc="-23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Geringe differenzierte Betrachtung spezifisch für den deutschen Markt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de-DE" sz="2400" spc="-23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de-DE" sz="2400" spc="-23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object 27">
                <a:extLst>
                  <a:ext uri="{FF2B5EF4-FFF2-40B4-BE49-F238E27FC236}">
                    <a16:creationId xmlns:a16="http://schemas.microsoft.com/office/drawing/2014/main" id="{185A3FDC-D26C-A458-5C15-CC2D4F678252}"/>
                  </a:ext>
                </a:extLst>
              </p:cNvPr>
              <p:cNvSpPr/>
              <p:nvPr/>
            </p:nvSpPr>
            <p:spPr>
              <a:xfrm>
                <a:off x="604933" y="5626821"/>
                <a:ext cx="6393232" cy="221835"/>
              </a:xfrm>
              <a:custGeom>
                <a:avLst/>
                <a:gdLst/>
                <a:ahLst/>
                <a:cxnLst/>
                <a:rect l="l" t="t" r="r" b="b"/>
                <a:pathLst>
                  <a:path w="6394450" h="432435">
                    <a:moveTo>
                      <a:pt x="6215556" y="0"/>
                    </a:moveTo>
                    <a:lnTo>
                      <a:pt x="178281" y="0"/>
                    </a:lnTo>
                    <a:lnTo>
                      <a:pt x="130886" y="6368"/>
                    </a:lnTo>
                    <a:lnTo>
                      <a:pt x="88298" y="24340"/>
                    </a:lnTo>
                    <a:lnTo>
                      <a:pt x="52216" y="52216"/>
                    </a:lnTo>
                    <a:lnTo>
                      <a:pt x="24340" y="88298"/>
                    </a:lnTo>
                    <a:lnTo>
                      <a:pt x="6368" y="130886"/>
                    </a:lnTo>
                    <a:lnTo>
                      <a:pt x="0" y="178281"/>
                    </a:lnTo>
                    <a:lnTo>
                      <a:pt x="0" y="432193"/>
                    </a:lnTo>
                    <a:lnTo>
                      <a:pt x="6393837" y="432193"/>
                    </a:lnTo>
                    <a:lnTo>
                      <a:pt x="6393837" y="178281"/>
                    </a:lnTo>
                    <a:lnTo>
                      <a:pt x="6387469" y="130886"/>
                    </a:lnTo>
                    <a:lnTo>
                      <a:pt x="6369497" y="88298"/>
                    </a:lnTo>
                    <a:lnTo>
                      <a:pt x="6341620" y="52216"/>
                    </a:lnTo>
                    <a:lnTo>
                      <a:pt x="6305539" y="24340"/>
                    </a:lnTo>
                    <a:lnTo>
                      <a:pt x="6262951" y="6368"/>
                    </a:lnTo>
                    <a:lnTo>
                      <a:pt x="6215556" y="0"/>
                    </a:lnTo>
                    <a:close/>
                  </a:path>
                </a:pathLst>
              </a:custGeom>
              <a:gradFill>
                <a:gsLst>
                  <a:gs pos="28000">
                    <a:srgbClr val="367DB0"/>
                  </a:gs>
                  <a:gs pos="0">
                    <a:srgbClr val="005A9B"/>
                  </a:gs>
                  <a:gs pos="100000">
                    <a:schemeClr val="accent1">
                      <a:lumMod val="0"/>
                      <a:lumOff val="100000"/>
                      <a:alpha val="58000"/>
                    </a:schemeClr>
                  </a:gs>
                </a:gsLst>
                <a:lin ang="0" scaled="1"/>
              </a:gradFill>
            </p:spPr>
            <p:txBody>
              <a:bodyPr wrap="square" lIns="0" tIns="0" rIns="0" bIns="0" rtlCol="0"/>
              <a:lstStyle/>
              <a:p>
                <a:endParaRPr lang="de-DE" noProof="0" dirty="0"/>
              </a:p>
            </p:txBody>
          </p:sp>
          <p:sp>
            <p:nvSpPr>
              <p:cNvPr id="128" name="object 31">
                <a:extLst>
                  <a:ext uri="{FF2B5EF4-FFF2-40B4-BE49-F238E27FC236}">
                    <a16:creationId xmlns:a16="http://schemas.microsoft.com/office/drawing/2014/main" id="{6F6545A7-7786-4CB6-88D5-F1488F7EFBCB}"/>
                  </a:ext>
                </a:extLst>
              </p:cNvPr>
              <p:cNvSpPr txBox="1"/>
              <p:nvPr/>
            </p:nvSpPr>
            <p:spPr>
              <a:xfrm>
                <a:off x="756046" y="5645035"/>
                <a:ext cx="6217354" cy="185711"/>
              </a:xfrm>
              <a:prstGeom prst="rect">
                <a:avLst/>
              </a:prstGeom>
            </p:spPr>
            <p:txBody>
              <a:bodyPr vert="horz" wrap="square" lIns="0" tIns="21002" rIns="0" bIns="0" rtlCol="0">
                <a:spAutoFit/>
              </a:bodyPr>
              <a:lstStyle/>
              <a:p>
                <a:pPr marL="19092">
                  <a:spcBef>
                    <a:spcPts val="165"/>
                  </a:spcBef>
                </a:pPr>
                <a:r>
                  <a:rPr lang="de-DE" sz="4000" b="1" spc="-37" baseline="1388" noProof="0" dirty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Stand der Forschung</a:t>
                </a:r>
                <a:endParaRPr lang="de-DE" sz="4000" baseline="1388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5" name="Rechteck 24">
            <a:extLst>
              <a:ext uri="{FF2B5EF4-FFF2-40B4-BE49-F238E27FC236}">
                <a16:creationId xmlns:a16="http://schemas.microsoft.com/office/drawing/2014/main" id="{6F568DFE-025D-5A5C-2ABF-CF9397E2CDE1}"/>
              </a:ext>
            </a:extLst>
          </p:cNvPr>
          <p:cNvSpPr/>
          <p:nvPr/>
        </p:nvSpPr>
        <p:spPr>
          <a:xfrm>
            <a:off x="246743" y="29235756"/>
            <a:ext cx="20892358" cy="868268"/>
          </a:xfrm>
          <a:prstGeom prst="rect">
            <a:avLst/>
          </a:prstGeom>
          <a:solidFill>
            <a:schemeClr val="bg1"/>
          </a:solidFill>
          <a:ln>
            <a:solidFill>
              <a:srgbClr val="005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506E2798-BF34-E7A8-01D6-6645397CCB4C}"/>
              </a:ext>
            </a:extLst>
          </p:cNvPr>
          <p:cNvGrpSpPr/>
          <p:nvPr/>
        </p:nvGrpSpPr>
        <p:grpSpPr>
          <a:xfrm>
            <a:off x="207814" y="171189"/>
            <a:ext cx="20912826" cy="1537887"/>
            <a:chOff x="422627" y="422587"/>
            <a:chExt cx="13375005" cy="1581785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2CBE77F-63EC-8BB5-A65F-50723CC7C6F0}"/>
                </a:ext>
              </a:extLst>
            </p:cNvPr>
            <p:cNvSpPr/>
            <p:nvPr/>
          </p:nvSpPr>
          <p:spPr>
            <a:xfrm>
              <a:off x="422627" y="422587"/>
              <a:ext cx="13375005" cy="1581785"/>
            </a:xfrm>
            <a:custGeom>
              <a:avLst/>
              <a:gdLst/>
              <a:ahLst/>
              <a:cxnLst/>
              <a:rect l="l" t="t" r="r" b="b"/>
              <a:pathLst>
                <a:path w="13375005" h="1581785">
                  <a:moveTo>
                    <a:pt x="13077588" y="0"/>
                  </a:moveTo>
                  <a:lnTo>
                    <a:pt x="297135" y="0"/>
                  </a:lnTo>
                  <a:lnTo>
                    <a:pt x="248937" y="3888"/>
                  </a:lnTo>
                  <a:lnTo>
                    <a:pt x="203216" y="15147"/>
                  </a:lnTo>
                  <a:lnTo>
                    <a:pt x="160583" y="33165"/>
                  </a:lnTo>
                  <a:lnTo>
                    <a:pt x="121650" y="57329"/>
                  </a:lnTo>
                  <a:lnTo>
                    <a:pt x="87028" y="87028"/>
                  </a:lnTo>
                  <a:lnTo>
                    <a:pt x="57329" y="121650"/>
                  </a:lnTo>
                  <a:lnTo>
                    <a:pt x="33165" y="160583"/>
                  </a:lnTo>
                  <a:lnTo>
                    <a:pt x="15147" y="203216"/>
                  </a:lnTo>
                  <a:lnTo>
                    <a:pt x="3888" y="248937"/>
                  </a:lnTo>
                  <a:lnTo>
                    <a:pt x="0" y="297135"/>
                  </a:lnTo>
                  <a:lnTo>
                    <a:pt x="0" y="1284068"/>
                  </a:lnTo>
                  <a:lnTo>
                    <a:pt x="3888" y="1332265"/>
                  </a:lnTo>
                  <a:lnTo>
                    <a:pt x="15147" y="1377986"/>
                  </a:lnTo>
                  <a:lnTo>
                    <a:pt x="33165" y="1420619"/>
                  </a:lnTo>
                  <a:lnTo>
                    <a:pt x="57329" y="1459553"/>
                  </a:lnTo>
                  <a:lnTo>
                    <a:pt x="87028" y="1494175"/>
                  </a:lnTo>
                  <a:lnTo>
                    <a:pt x="121650" y="1523874"/>
                  </a:lnTo>
                  <a:lnTo>
                    <a:pt x="160583" y="1548038"/>
                  </a:lnTo>
                  <a:lnTo>
                    <a:pt x="203216" y="1566055"/>
                  </a:lnTo>
                  <a:lnTo>
                    <a:pt x="248937" y="1577314"/>
                  </a:lnTo>
                  <a:lnTo>
                    <a:pt x="297135" y="1581203"/>
                  </a:lnTo>
                  <a:lnTo>
                    <a:pt x="13077588" y="1581203"/>
                  </a:lnTo>
                  <a:lnTo>
                    <a:pt x="13125785" y="1577314"/>
                  </a:lnTo>
                  <a:lnTo>
                    <a:pt x="13171507" y="1566055"/>
                  </a:lnTo>
                  <a:lnTo>
                    <a:pt x="13214140" y="1548038"/>
                  </a:lnTo>
                  <a:lnTo>
                    <a:pt x="13253073" y="1523874"/>
                  </a:lnTo>
                  <a:lnTo>
                    <a:pt x="13287695" y="1494175"/>
                  </a:lnTo>
                  <a:lnTo>
                    <a:pt x="13317394" y="1459553"/>
                  </a:lnTo>
                  <a:lnTo>
                    <a:pt x="13341558" y="1420619"/>
                  </a:lnTo>
                  <a:lnTo>
                    <a:pt x="13359575" y="1377986"/>
                  </a:lnTo>
                  <a:lnTo>
                    <a:pt x="13370834" y="1332265"/>
                  </a:lnTo>
                  <a:lnTo>
                    <a:pt x="13374723" y="1284068"/>
                  </a:lnTo>
                  <a:lnTo>
                    <a:pt x="13374723" y="297135"/>
                  </a:lnTo>
                  <a:lnTo>
                    <a:pt x="13370834" y="248937"/>
                  </a:lnTo>
                  <a:lnTo>
                    <a:pt x="13359575" y="203216"/>
                  </a:lnTo>
                  <a:lnTo>
                    <a:pt x="13341558" y="160583"/>
                  </a:lnTo>
                  <a:lnTo>
                    <a:pt x="13317394" y="121650"/>
                  </a:lnTo>
                  <a:lnTo>
                    <a:pt x="13287695" y="87028"/>
                  </a:lnTo>
                  <a:lnTo>
                    <a:pt x="13253073" y="57329"/>
                  </a:lnTo>
                  <a:lnTo>
                    <a:pt x="13214140" y="33165"/>
                  </a:lnTo>
                  <a:lnTo>
                    <a:pt x="13171507" y="15147"/>
                  </a:lnTo>
                  <a:lnTo>
                    <a:pt x="13125785" y="3888"/>
                  </a:lnTo>
                  <a:lnTo>
                    <a:pt x="130775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de-DE" noProof="0"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CB8129C-E204-DF03-FB1B-357BBCF43533}"/>
                </a:ext>
              </a:extLst>
            </p:cNvPr>
            <p:cNvSpPr/>
            <p:nvPr/>
          </p:nvSpPr>
          <p:spPr>
            <a:xfrm>
              <a:off x="422627" y="422587"/>
              <a:ext cx="13375005" cy="1581785"/>
            </a:xfrm>
            <a:custGeom>
              <a:avLst/>
              <a:gdLst/>
              <a:ahLst/>
              <a:cxnLst/>
              <a:rect l="l" t="t" r="r" b="b"/>
              <a:pathLst>
                <a:path w="13375005" h="1581785">
                  <a:moveTo>
                    <a:pt x="0" y="1284068"/>
                  </a:moveTo>
                  <a:lnTo>
                    <a:pt x="0" y="297135"/>
                  </a:lnTo>
                  <a:lnTo>
                    <a:pt x="3888" y="248937"/>
                  </a:lnTo>
                  <a:lnTo>
                    <a:pt x="15147" y="203216"/>
                  </a:lnTo>
                  <a:lnTo>
                    <a:pt x="33165" y="160583"/>
                  </a:lnTo>
                  <a:lnTo>
                    <a:pt x="57329" y="121650"/>
                  </a:lnTo>
                  <a:lnTo>
                    <a:pt x="87028" y="87028"/>
                  </a:lnTo>
                  <a:lnTo>
                    <a:pt x="121650" y="57329"/>
                  </a:lnTo>
                  <a:lnTo>
                    <a:pt x="160583" y="33165"/>
                  </a:lnTo>
                  <a:lnTo>
                    <a:pt x="203216" y="15147"/>
                  </a:lnTo>
                  <a:lnTo>
                    <a:pt x="248937" y="3888"/>
                  </a:lnTo>
                  <a:lnTo>
                    <a:pt x="297135" y="0"/>
                  </a:lnTo>
                  <a:lnTo>
                    <a:pt x="13077588" y="0"/>
                  </a:lnTo>
                  <a:lnTo>
                    <a:pt x="13125785" y="3888"/>
                  </a:lnTo>
                  <a:lnTo>
                    <a:pt x="13171506" y="15147"/>
                  </a:lnTo>
                  <a:lnTo>
                    <a:pt x="13214140" y="33165"/>
                  </a:lnTo>
                  <a:lnTo>
                    <a:pt x="13253073" y="57329"/>
                  </a:lnTo>
                  <a:lnTo>
                    <a:pt x="13287695" y="87028"/>
                  </a:lnTo>
                  <a:lnTo>
                    <a:pt x="13317394" y="121650"/>
                  </a:lnTo>
                  <a:lnTo>
                    <a:pt x="13341558" y="160583"/>
                  </a:lnTo>
                  <a:lnTo>
                    <a:pt x="13359575" y="203216"/>
                  </a:lnTo>
                  <a:lnTo>
                    <a:pt x="13370834" y="248937"/>
                  </a:lnTo>
                  <a:lnTo>
                    <a:pt x="13374723" y="297135"/>
                  </a:lnTo>
                  <a:lnTo>
                    <a:pt x="13374723" y="1284068"/>
                  </a:lnTo>
                  <a:lnTo>
                    <a:pt x="13370834" y="1332265"/>
                  </a:lnTo>
                  <a:lnTo>
                    <a:pt x="13359575" y="1377986"/>
                  </a:lnTo>
                  <a:lnTo>
                    <a:pt x="13341558" y="1420619"/>
                  </a:lnTo>
                  <a:lnTo>
                    <a:pt x="13317394" y="1459553"/>
                  </a:lnTo>
                  <a:lnTo>
                    <a:pt x="13287695" y="1494175"/>
                  </a:lnTo>
                  <a:lnTo>
                    <a:pt x="13253073" y="1523874"/>
                  </a:lnTo>
                  <a:lnTo>
                    <a:pt x="13214140" y="1548038"/>
                  </a:lnTo>
                  <a:lnTo>
                    <a:pt x="13171506" y="1566055"/>
                  </a:lnTo>
                  <a:lnTo>
                    <a:pt x="13125785" y="1577314"/>
                  </a:lnTo>
                  <a:lnTo>
                    <a:pt x="13077588" y="1581203"/>
                  </a:lnTo>
                  <a:lnTo>
                    <a:pt x="297135" y="1581203"/>
                  </a:lnTo>
                  <a:lnTo>
                    <a:pt x="248937" y="1577314"/>
                  </a:lnTo>
                  <a:lnTo>
                    <a:pt x="203216" y="1566055"/>
                  </a:lnTo>
                  <a:lnTo>
                    <a:pt x="160583" y="1548038"/>
                  </a:lnTo>
                  <a:lnTo>
                    <a:pt x="121650" y="1523874"/>
                  </a:lnTo>
                  <a:lnTo>
                    <a:pt x="87028" y="1494175"/>
                  </a:lnTo>
                  <a:lnTo>
                    <a:pt x="57329" y="1459553"/>
                  </a:lnTo>
                  <a:lnTo>
                    <a:pt x="33165" y="1420619"/>
                  </a:lnTo>
                  <a:lnTo>
                    <a:pt x="15147" y="1377986"/>
                  </a:lnTo>
                  <a:lnTo>
                    <a:pt x="3888" y="1332265"/>
                  </a:lnTo>
                  <a:lnTo>
                    <a:pt x="0" y="1284068"/>
                  </a:lnTo>
                  <a:close/>
                </a:path>
              </a:pathLst>
            </a:custGeom>
            <a:ln w="3175">
              <a:solidFill>
                <a:srgbClr val="00599A"/>
              </a:solidFill>
            </a:ln>
          </p:spPr>
          <p:txBody>
            <a:bodyPr wrap="square" lIns="0" tIns="0" rIns="0" bIns="0" rtlCol="0"/>
            <a:lstStyle/>
            <a:p>
              <a:endParaRPr lang="de-DE" noProof="0" dirty="0"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0BB8EBDC-8A07-516A-33CF-11D4E0FDE16A}"/>
              </a:ext>
            </a:extLst>
          </p:cNvPr>
          <p:cNvSpPr txBox="1"/>
          <p:nvPr/>
        </p:nvSpPr>
        <p:spPr>
          <a:xfrm>
            <a:off x="397996" y="171913"/>
            <a:ext cx="20587631" cy="1495643"/>
          </a:xfrm>
          <a:prstGeom prst="rect">
            <a:avLst/>
          </a:prstGeom>
        </p:spPr>
        <p:txBody>
          <a:bodyPr vert="horz" wrap="square" lIns="0" tIns="18138" rIns="0" bIns="0" rtlCol="0">
            <a:spAutoFit/>
          </a:bodyPr>
          <a:lstStyle/>
          <a:p>
            <a:pPr algn="ctr">
              <a:spcBef>
                <a:spcPts val="143"/>
              </a:spcBef>
            </a:pPr>
            <a:r>
              <a:rPr lang="de-DE" sz="4800" b="1" spc="-53" noProof="0" dirty="0">
                <a:solidFill>
                  <a:srgbClr val="0059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Eine Clusteranalyse deutscher Großstädte basierend auf </a:t>
            </a:r>
            <a:r>
              <a:rPr lang="de-DE" sz="4800" b="1" spc="-53" noProof="0" dirty="0" err="1">
                <a:solidFill>
                  <a:srgbClr val="0059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Urbanit</a:t>
            </a:r>
            <a:r>
              <a:rPr lang="de-DE" sz="4800" b="1" spc="-53" dirty="0">
                <a:solidFill>
                  <a:srgbClr val="0059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ä</a:t>
            </a:r>
            <a:r>
              <a:rPr lang="de-DE" sz="4800" b="1" spc="-53" noProof="0" dirty="0">
                <a:solidFill>
                  <a:srgbClr val="0059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</a:t>
            </a:r>
          </a:p>
          <a:p>
            <a:pPr algn="ctr">
              <a:spcBef>
                <a:spcPts val="143"/>
              </a:spcBef>
            </a:pPr>
            <a:r>
              <a:rPr lang="de-DE" sz="4800" b="1" spc="-53" noProof="0" dirty="0">
                <a:solidFill>
                  <a:srgbClr val="0059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 </a:t>
            </a:r>
            <a:r>
              <a:rPr lang="de-DE" sz="4800" b="1" spc="-53" noProof="0" dirty="0" err="1">
                <a:solidFill>
                  <a:srgbClr val="0059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Elektromobilit</a:t>
            </a:r>
            <a:r>
              <a:rPr lang="de-DE" sz="4800" b="1" spc="-53" dirty="0">
                <a:solidFill>
                  <a:srgbClr val="0059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ä</a:t>
            </a:r>
            <a:r>
              <a:rPr lang="de-DE" sz="4800" b="1" spc="-53" noProof="0" dirty="0">
                <a:solidFill>
                  <a:srgbClr val="0059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pic>
        <p:nvPicPr>
          <p:cNvPr id="23" name="Grafik 22" descr="Ein Bild, das Text enthält.&#10;&#10;Automatisch generierte Beschreibung">
            <a:extLst>
              <a:ext uri="{FF2B5EF4-FFF2-40B4-BE49-F238E27FC236}">
                <a16:creationId xmlns:a16="http://schemas.microsoft.com/office/drawing/2014/main" id="{33B882E6-B439-1FA8-8304-72D48E37EDD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59039" y="29301739"/>
            <a:ext cx="1842925" cy="810452"/>
          </a:xfrm>
          <a:prstGeom prst="rect">
            <a:avLst/>
          </a:prstGeom>
        </p:spPr>
      </p:pic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0EA7369C-30E2-581C-E2AA-F1E00FA07546}"/>
              </a:ext>
            </a:extLst>
          </p:cNvPr>
          <p:cNvGrpSpPr/>
          <p:nvPr/>
        </p:nvGrpSpPr>
        <p:grpSpPr>
          <a:xfrm>
            <a:off x="204220" y="1885095"/>
            <a:ext cx="10475890" cy="1784304"/>
            <a:chOff x="239955" y="2360920"/>
            <a:chExt cx="10087510" cy="1784304"/>
          </a:xfrm>
        </p:grpSpPr>
        <p:grpSp>
          <p:nvGrpSpPr>
            <p:cNvPr id="130" name="Gruppieren 129">
              <a:extLst>
                <a:ext uri="{FF2B5EF4-FFF2-40B4-BE49-F238E27FC236}">
                  <a16:creationId xmlns:a16="http://schemas.microsoft.com/office/drawing/2014/main" id="{08E431C6-8976-BC66-1F63-92153D8FC733}"/>
                </a:ext>
              </a:extLst>
            </p:cNvPr>
            <p:cNvGrpSpPr/>
            <p:nvPr/>
          </p:nvGrpSpPr>
          <p:grpSpPr>
            <a:xfrm>
              <a:off x="239955" y="2360920"/>
              <a:ext cx="10087510" cy="1784304"/>
              <a:chOff x="851649" y="8560265"/>
              <a:chExt cx="9647370" cy="1175094"/>
            </a:xfrm>
          </p:grpSpPr>
          <p:sp>
            <p:nvSpPr>
              <p:cNvPr id="131" name="object 31">
                <a:extLst>
                  <a:ext uri="{FF2B5EF4-FFF2-40B4-BE49-F238E27FC236}">
                    <a16:creationId xmlns:a16="http://schemas.microsoft.com/office/drawing/2014/main" id="{9A5B1589-335D-DC24-4D55-2B10043EC041}"/>
                  </a:ext>
                </a:extLst>
              </p:cNvPr>
              <p:cNvSpPr txBox="1"/>
              <p:nvPr/>
            </p:nvSpPr>
            <p:spPr>
              <a:xfrm>
                <a:off x="1114940" y="8560265"/>
                <a:ext cx="6394307" cy="391373"/>
              </a:xfrm>
              <a:prstGeom prst="rect">
                <a:avLst/>
              </a:prstGeom>
            </p:spPr>
            <p:txBody>
              <a:bodyPr vert="horz" wrap="square" lIns="0" tIns="21002" rIns="0" bIns="0" rtlCol="0">
                <a:spAutoFit/>
              </a:bodyPr>
              <a:lstStyle/>
              <a:p>
                <a:pPr marL="19092">
                  <a:spcBef>
                    <a:spcPts val="165"/>
                  </a:spcBef>
                </a:pPr>
                <a:r>
                  <a:rPr lang="de-DE" sz="3608" b="1" spc="-56" baseline="1388" noProof="0" dirty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Research Area</a:t>
                </a:r>
                <a:endParaRPr lang="de-DE" sz="3608" baseline="1388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2" name="Gruppieren 131">
                <a:extLst>
                  <a:ext uri="{FF2B5EF4-FFF2-40B4-BE49-F238E27FC236}">
                    <a16:creationId xmlns:a16="http://schemas.microsoft.com/office/drawing/2014/main" id="{50EFDD98-E3A3-FDA2-85F5-3A842BBCFEFA}"/>
                  </a:ext>
                </a:extLst>
              </p:cNvPr>
              <p:cNvGrpSpPr/>
              <p:nvPr/>
            </p:nvGrpSpPr>
            <p:grpSpPr>
              <a:xfrm>
                <a:off x="851649" y="8560272"/>
                <a:ext cx="9647370" cy="1175087"/>
                <a:chOff x="580909" y="5626821"/>
                <a:chExt cx="6417256" cy="767799"/>
              </a:xfrm>
            </p:grpSpPr>
            <p:sp>
              <p:nvSpPr>
                <p:cNvPr id="133" name="object 27">
                  <a:extLst>
                    <a:ext uri="{FF2B5EF4-FFF2-40B4-BE49-F238E27FC236}">
                      <a16:creationId xmlns:a16="http://schemas.microsoft.com/office/drawing/2014/main" id="{EFC60878-0872-D50C-29AE-4B06E7B45580}"/>
                    </a:ext>
                  </a:extLst>
                </p:cNvPr>
                <p:cNvSpPr/>
                <p:nvPr/>
              </p:nvSpPr>
              <p:spPr>
                <a:xfrm>
                  <a:off x="604933" y="5626821"/>
                  <a:ext cx="6393232" cy="221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4450" h="432435">
                      <a:moveTo>
                        <a:pt x="6215556" y="0"/>
                      </a:moveTo>
                      <a:lnTo>
                        <a:pt x="178281" y="0"/>
                      </a:lnTo>
                      <a:lnTo>
                        <a:pt x="130886" y="6368"/>
                      </a:lnTo>
                      <a:lnTo>
                        <a:pt x="88298" y="24340"/>
                      </a:lnTo>
                      <a:lnTo>
                        <a:pt x="52216" y="52216"/>
                      </a:lnTo>
                      <a:lnTo>
                        <a:pt x="24340" y="88298"/>
                      </a:lnTo>
                      <a:lnTo>
                        <a:pt x="6368" y="130886"/>
                      </a:lnTo>
                      <a:lnTo>
                        <a:pt x="0" y="178281"/>
                      </a:lnTo>
                      <a:lnTo>
                        <a:pt x="0" y="432193"/>
                      </a:lnTo>
                      <a:lnTo>
                        <a:pt x="6393837" y="432193"/>
                      </a:lnTo>
                      <a:lnTo>
                        <a:pt x="6393837" y="178281"/>
                      </a:lnTo>
                      <a:lnTo>
                        <a:pt x="6387469" y="130886"/>
                      </a:lnTo>
                      <a:lnTo>
                        <a:pt x="6369497" y="88298"/>
                      </a:lnTo>
                      <a:lnTo>
                        <a:pt x="6341620" y="52216"/>
                      </a:lnTo>
                      <a:lnTo>
                        <a:pt x="6305539" y="24340"/>
                      </a:lnTo>
                      <a:lnTo>
                        <a:pt x="6262951" y="6368"/>
                      </a:lnTo>
                      <a:lnTo>
                        <a:pt x="6215556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5A9B"/>
                    </a:gs>
                    <a:gs pos="100000">
                      <a:schemeClr val="accent1">
                        <a:lumMod val="0"/>
                        <a:lumOff val="100000"/>
                        <a:alpha val="58000"/>
                      </a:schemeClr>
                    </a:gs>
                  </a:gsLst>
                  <a:lin ang="0" scaled="1"/>
                  <a:tileRect/>
                </a:gradFill>
              </p:spPr>
              <p:txBody>
                <a:bodyPr wrap="square" lIns="0" tIns="0" rIns="0" bIns="0" rtlCol="0"/>
                <a:lstStyle/>
                <a:p>
                  <a:endParaRPr lang="de-DE" noProof="0" dirty="0"/>
                </a:p>
              </p:txBody>
            </p:sp>
            <p:sp>
              <p:nvSpPr>
                <p:cNvPr id="134" name="object 31">
                  <a:extLst>
                    <a:ext uri="{FF2B5EF4-FFF2-40B4-BE49-F238E27FC236}">
                      <a16:creationId xmlns:a16="http://schemas.microsoft.com/office/drawing/2014/main" id="{69233402-836F-20BC-24B9-A2B0F1F35C3A}"/>
                    </a:ext>
                  </a:extLst>
                </p:cNvPr>
                <p:cNvSpPr txBox="1"/>
                <p:nvPr/>
              </p:nvSpPr>
              <p:spPr>
                <a:xfrm>
                  <a:off x="756046" y="5645035"/>
                  <a:ext cx="6217354" cy="185711"/>
                </a:xfrm>
                <a:prstGeom prst="rect">
                  <a:avLst/>
                </a:prstGeom>
              </p:spPr>
              <p:txBody>
                <a:bodyPr vert="horz" wrap="square" lIns="0" tIns="21002" rIns="0" bIns="0" rtlCol="0">
                  <a:spAutoFit/>
                </a:bodyPr>
                <a:lstStyle/>
                <a:p>
                  <a:pPr marL="19092">
                    <a:spcBef>
                      <a:spcPts val="165"/>
                    </a:spcBef>
                  </a:pPr>
                  <a:r>
                    <a:rPr lang="de-DE" sz="4000" b="1" spc="-37" baseline="1388" noProof="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Problemstellung</a:t>
                  </a:r>
                  <a:endParaRPr lang="de-DE" sz="4000" baseline="1388" noProof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5" name="Rechteck 134">
                  <a:extLst>
                    <a:ext uri="{FF2B5EF4-FFF2-40B4-BE49-F238E27FC236}">
                      <a16:creationId xmlns:a16="http://schemas.microsoft.com/office/drawing/2014/main" id="{C47353AC-FFA7-1334-3DC2-B4E0CC24777D}"/>
                    </a:ext>
                  </a:extLst>
                </p:cNvPr>
                <p:cNvSpPr/>
                <p:nvPr/>
              </p:nvSpPr>
              <p:spPr>
                <a:xfrm>
                  <a:off x="580909" y="5848657"/>
                  <a:ext cx="6417256" cy="545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noProof="0" dirty="0"/>
                </a:p>
              </p:txBody>
            </p:sp>
          </p:grpSp>
        </p:grpSp>
        <p:sp>
          <p:nvSpPr>
            <p:cNvPr id="142" name="object 25">
              <a:extLst>
                <a:ext uri="{FF2B5EF4-FFF2-40B4-BE49-F238E27FC236}">
                  <a16:creationId xmlns:a16="http://schemas.microsoft.com/office/drawing/2014/main" id="{79B996AD-7E77-96C7-3D15-B32407782AAD}"/>
                </a:ext>
              </a:extLst>
            </p:cNvPr>
            <p:cNvSpPr txBox="1"/>
            <p:nvPr/>
          </p:nvSpPr>
          <p:spPr>
            <a:xfrm>
              <a:off x="267596" y="2835004"/>
              <a:ext cx="10021932" cy="1209381"/>
            </a:xfrm>
            <a:prstGeom prst="rect">
              <a:avLst/>
            </a:prstGeom>
            <a:solidFill>
              <a:srgbClr val="FFFFFF"/>
            </a:solidFill>
            <a:ln>
              <a:gradFill flip="none" rotWithShape="1">
                <a:gsLst>
                  <a:gs pos="0">
                    <a:srgbClr val="005A9B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</a:ln>
          </p:spPr>
          <p:txBody>
            <a:bodyPr wrap="none" lIns="91440" tIns="0" rIns="0" bIns="0" rtlCol="0" anchor="ctr"/>
            <a:lstStyle>
              <a:defPPr>
                <a:defRPr lang="en-US"/>
              </a:defPPr>
              <a:lvl1pPr marL="267287" marR="7637" indent="-267287">
                <a:spcBef>
                  <a:spcPts val="443"/>
                </a:spcBef>
                <a:buClr>
                  <a:srgbClr val="00599A"/>
                </a:buClr>
                <a:buFont typeface="Times New Roman"/>
                <a:buChar char="•"/>
                <a:defRPr sz="3200" spc="-23" baseline="1683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de-DE" sz="2400" baseline="0" dirty="0"/>
                <a:t>Sinnvolle Förderung und Vorantreiben</a:t>
              </a:r>
              <a:r>
                <a:rPr lang="de-DE" sz="2400" baseline="0" noProof="0" dirty="0"/>
                <a:t> der Antriebswende zur Reduktion von </a:t>
              </a:r>
              <a:br>
                <a:rPr lang="de-DE" sz="2400" baseline="0" noProof="0" dirty="0"/>
              </a:br>
              <a:r>
                <a:rPr lang="de-DE" sz="2400" baseline="0" noProof="0" dirty="0"/>
                <a:t>Emissionen</a:t>
              </a:r>
            </a:p>
            <a:p>
              <a:r>
                <a:rPr lang="de-DE" sz="2400" baseline="0" dirty="0"/>
                <a:t>Planung des Ausbaus der Ladeinfrastruktur</a:t>
              </a:r>
              <a:endParaRPr lang="de-DE" sz="2400" baseline="0" noProof="0" dirty="0"/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E3204798-8BC8-59DC-88D7-BCBD28EDA658}"/>
              </a:ext>
            </a:extLst>
          </p:cNvPr>
          <p:cNvGrpSpPr/>
          <p:nvPr/>
        </p:nvGrpSpPr>
        <p:grpSpPr>
          <a:xfrm>
            <a:off x="244798" y="11340983"/>
            <a:ext cx="20892359" cy="9460520"/>
            <a:chOff x="10883543" y="2448641"/>
            <a:chExt cx="10049746" cy="8509088"/>
          </a:xfrm>
        </p:grpSpPr>
        <p:grpSp>
          <p:nvGrpSpPr>
            <p:cNvPr id="140" name="Gruppieren 139">
              <a:extLst>
                <a:ext uri="{FF2B5EF4-FFF2-40B4-BE49-F238E27FC236}">
                  <a16:creationId xmlns:a16="http://schemas.microsoft.com/office/drawing/2014/main" id="{46FFA1A0-6EAB-EEA2-2766-E01102E02AAA}"/>
                </a:ext>
              </a:extLst>
            </p:cNvPr>
            <p:cNvGrpSpPr/>
            <p:nvPr/>
          </p:nvGrpSpPr>
          <p:grpSpPr>
            <a:xfrm>
              <a:off x="10883543" y="2448641"/>
              <a:ext cx="10049746" cy="8509088"/>
              <a:chOff x="887763" y="8560265"/>
              <a:chExt cx="9611253" cy="5603856"/>
            </a:xfrm>
          </p:grpSpPr>
          <p:sp>
            <p:nvSpPr>
              <p:cNvPr id="165" name="object 31">
                <a:extLst>
                  <a:ext uri="{FF2B5EF4-FFF2-40B4-BE49-F238E27FC236}">
                    <a16:creationId xmlns:a16="http://schemas.microsoft.com/office/drawing/2014/main" id="{7BAD4BC0-8B94-B2F6-F79C-4DFF0572EB47}"/>
                  </a:ext>
                </a:extLst>
              </p:cNvPr>
              <p:cNvSpPr txBox="1"/>
              <p:nvPr/>
            </p:nvSpPr>
            <p:spPr>
              <a:xfrm>
                <a:off x="1114940" y="8560265"/>
                <a:ext cx="6394307" cy="391373"/>
              </a:xfrm>
              <a:prstGeom prst="rect">
                <a:avLst/>
              </a:prstGeom>
            </p:spPr>
            <p:txBody>
              <a:bodyPr vert="horz" wrap="square" lIns="0" tIns="21002" rIns="0" bIns="0" rtlCol="0">
                <a:spAutoFit/>
              </a:bodyPr>
              <a:lstStyle/>
              <a:p>
                <a:pPr marL="19092">
                  <a:spcBef>
                    <a:spcPts val="165"/>
                  </a:spcBef>
                </a:pPr>
                <a:r>
                  <a:rPr lang="de-DE" sz="3608" b="1" spc="-56" baseline="1388" noProof="0" dirty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Research Area</a:t>
                </a:r>
                <a:endParaRPr lang="de-DE" sz="3608" baseline="1388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66" name="Gruppieren 165">
                <a:extLst>
                  <a:ext uri="{FF2B5EF4-FFF2-40B4-BE49-F238E27FC236}">
                    <a16:creationId xmlns:a16="http://schemas.microsoft.com/office/drawing/2014/main" id="{6E492001-BBC7-DFB4-D934-1FA0BED0F59B}"/>
                  </a:ext>
                </a:extLst>
              </p:cNvPr>
              <p:cNvGrpSpPr/>
              <p:nvPr/>
            </p:nvGrpSpPr>
            <p:grpSpPr>
              <a:xfrm>
                <a:off x="887763" y="8587353"/>
                <a:ext cx="9611253" cy="5576768"/>
                <a:chOff x="604932" y="5644516"/>
                <a:chExt cx="6393232" cy="3643846"/>
              </a:xfrm>
            </p:grpSpPr>
            <p:sp>
              <p:nvSpPr>
                <p:cNvPr id="167" name="object 27">
                  <a:extLst>
                    <a:ext uri="{FF2B5EF4-FFF2-40B4-BE49-F238E27FC236}">
                      <a16:creationId xmlns:a16="http://schemas.microsoft.com/office/drawing/2014/main" id="{D84E4470-0B04-FB16-2E9F-A6BBED23329F}"/>
                    </a:ext>
                  </a:extLst>
                </p:cNvPr>
                <p:cNvSpPr/>
                <p:nvPr/>
              </p:nvSpPr>
              <p:spPr>
                <a:xfrm>
                  <a:off x="604933" y="5644516"/>
                  <a:ext cx="3313258" cy="203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4450" h="432435">
                      <a:moveTo>
                        <a:pt x="6215556" y="0"/>
                      </a:moveTo>
                      <a:lnTo>
                        <a:pt x="178281" y="0"/>
                      </a:lnTo>
                      <a:lnTo>
                        <a:pt x="130886" y="6368"/>
                      </a:lnTo>
                      <a:lnTo>
                        <a:pt x="88298" y="24340"/>
                      </a:lnTo>
                      <a:lnTo>
                        <a:pt x="52216" y="52216"/>
                      </a:lnTo>
                      <a:lnTo>
                        <a:pt x="24340" y="88298"/>
                      </a:lnTo>
                      <a:lnTo>
                        <a:pt x="6368" y="130886"/>
                      </a:lnTo>
                      <a:lnTo>
                        <a:pt x="0" y="178281"/>
                      </a:lnTo>
                      <a:lnTo>
                        <a:pt x="0" y="432193"/>
                      </a:lnTo>
                      <a:lnTo>
                        <a:pt x="6393837" y="432193"/>
                      </a:lnTo>
                      <a:lnTo>
                        <a:pt x="6393837" y="178281"/>
                      </a:lnTo>
                      <a:lnTo>
                        <a:pt x="6387469" y="130886"/>
                      </a:lnTo>
                      <a:lnTo>
                        <a:pt x="6369497" y="88298"/>
                      </a:lnTo>
                      <a:lnTo>
                        <a:pt x="6341620" y="52216"/>
                      </a:lnTo>
                      <a:lnTo>
                        <a:pt x="6305539" y="24340"/>
                      </a:lnTo>
                      <a:lnTo>
                        <a:pt x="6262951" y="6368"/>
                      </a:lnTo>
                      <a:lnTo>
                        <a:pt x="6215556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5A9B"/>
                    </a:gs>
                    <a:gs pos="100000">
                      <a:schemeClr val="accent1">
                        <a:lumMod val="0"/>
                        <a:lumOff val="100000"/>
                        <a:alpha val="58000"/>
                      </a:schemeClr>
                    </a:gs>
                  </a:gsLst>
                  <a:lin ang="0" scaled="1"/>
                  <a:tileRect/>
                </a:gradFill>
              </p:spPr>
              <p:txBody>
                <a:bodyPr wrap="square" lIns="0" tIns="0" rIns="0" bIns="0" rtlCol="0"/>
                <a:lstStyle/>
                <a:p>
                  <a:endParaRPr lang="de-DE" noProof="0" dirty="0"/>
                </a:p>
              </p:txBody>
            </p:sp>
            <p:sp>
              <p:nvSpPr>
                <p:cNvPr id="168" name="object 31">
                  <a:extLst>
                    <a:ext uri="{FF2B5EF4-FFF2-40B4-BE49-F238E27FC236}">
                      <a16:creationId xmlns:a16="http://schemas.microsoft.com/office/drawing/2014/main" id="{53CB4D3F-42A1-7835-C7F0-096C5E37057B}"/>
                    </a:ext>
                  </a:extLst>
                </p:cNvPr>
                <p:cNvSpPr txBox="1"/>
                <p:nvPr/>
              </p:nvSpPr>
              <p:spPr>
                <a:xfrm>
                  <a:off x="692532" y="5656680"/>
                  <a:ext cx="6217354" cy="185711"/>
                </a:xfrm>
                <a:prstGeom prst="rect">
                  <a:avLst/>
                </a:prstGeom>
              </p:spPr>
              <p:txBody>
                <a:bodyPr vert="horz" wrap="square" lIns="0" tIns="21002" rIns="0" bIns="0" rtlCol="0">
                  <a:spAutoFit/>
                </a:bodyPr>
                <a:lstStyle/>
                <a:p>
                  <a:pPr marL="19092">
                    <a:spcBef>
                      <a:spcPts val="165"/>
                    </a:spcBef>
                  </a:pPr>
                  <a:r>
                    <a:rPr lang="de-DE" sz="4000" b="1" spc="-37" baseline="1388" noProof="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Clustering</a:t>
                  </a:r>
                  <a:endParaRPr lang="de-DE" sz="4000" baseline="1388" noProof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" name="Rechteck 168">
                  <a:extLst>
                    <a:ext uri="{FF2B5EF4-FFF2-40B4-BE49-F238E27FC236}">
                      <a16:creationId xmlns:a16="http://schemas.microsoft.com/office/drawing/2014/main" id="{71870F32-4040-2CEE-F67C-4DE03D5A858A}"/>
                    </a:ext>
                  </a:extLst>
                </p:cNvPr>
                <p:cNvSpPr/>
                <p:nvPr/>
              </p:nvSpPr>
              <p:spPr>
                <a:xfrm>
                  <a:off x="604932" y="5848656"/>
                  <a:ext cx="6393232" cy="34397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gradFill flip="none" rotWithShape="1">
                    <a:gsLst>
                      <a:gs pos="0">
                        <a:srgbClr val="005A9B"/>
                      </a:gs>
                      <a:gs pos="100000">
                        <a:schemeClr val="bg1"/>
                      </a:gs>
                    </a:gsLst>
                    <a:lin ang="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91440" rtlCol="0" anchor="t"/>
                <a:lstStyle/>
                <a:p>
                  <a:r>
                    <a:rPr lang="de-DE" sz="24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Methodik</a:t>
                  </a: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</a:t>
                  </a:r>
                </a:p>
                <a:p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Untersuchungsmenge: </a:t>
                  </a:r>
                  <a:r>
                    <a:rPr lang="de-DE" sz="2400" dirty="0" err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=77 deutsche Groß- und Landeshauptstädte</a:t>
                  </a:r>
                </a:p>
                <a:p>
                  <a:r>
                    <a:rPr lang="de-DE" sz="2400" dirty="0" err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Algorithmuss</a:t>
                  </a: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 </a:t>
                  </a:r>
                  <a:r>
                    <a:rPr lang="de-DE" sz="2400" dirty="0" err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-Means ++</a:t>
                  </a:r>
                </a:p>
                <a:p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Datenbereinigung: Vorauswahl nur benötigter Daten </a:t>
                  </a:r>
                </a:p>
                <a:p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Datenzusammenführung: Anschließende </a:t>
                  </a:r>
                  <a:r>
                    <a:rPr lang="de-DE" sz="2400" dirty="0" err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zusammenführung</a:t>
                  </a: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über </a:t>
                  </a:r>
                  <a:b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</a:b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	Amtlichen Gemeindeschlüssel und Stadtnamen</a:t>
                  </a:r>
                </a:p>
                <a:p>
                  <a:endParaRPr lang="de-DE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Bestimmung von </a:t>
                  </a:r>
                  <a:r>
                    <a:rPr lang="de-DE" sz="2400" dirty="0" err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</a:t>
                  </a:r>
                </a:p>
                <a:p>
                  <a:endParaRPr lang="de-DE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de-DE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de-DE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de-DE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de-DE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de-DE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de-DE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de-DE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de-DE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de-DE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de-DE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Geringer </a:t>
                  </a:r>
                  <a:r>
                    <a:rPr lang="de-DE" sz="2400" dirty="0" err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Sillhouettenkoeffizient</a:t>
                  </a: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(0,24) bei </a:t>
                  </a:r>
                  <a:r>
                    <a:rPr lang="de-DE" sz="2400" dirty="0" err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=4 – weißt auf nahezu fließenden</a:t>
                  </a:r>
                  <a:b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</a:b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Übergängen der Cluster hin. </a:t>
                  </a:r>
                </a:p>
                <a:p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 Cluster gewählt um Kompromiss zwischen Detailierung und Interpretier-</a:t>
                  </a:r>
                  <a:b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</a:br>
                  <a:r>
                    <a:rPr lang="de-DE" sz="2400" dirty="0" err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barkeit</a:t>
                  </a: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der Cluster zu gewähren.</a:t>
                  </a:r>
                </a:p>
              </p:txBody>
            </p:sp>
          </p:grpSp>
        </p:grpSp>
        <p:sp>
          <p:nvSpPr>
            <p:cNvPr id="164" name="Rechteck 163">
              <a:extLst>
                <a:ext uri="{FF2B5EF4-FFF2-40B4-BE49-F238E27FC236}">
                  <a16:creationId xmlns:a16="http://schemas.microsoft.com/office/drawing/2014/main" id="{98F8A0F2-EA08-ECEA-9F1A-9F61547E8A69}"/>
                </a:ext>
              </a:extLst>
            </p:cNvPr>
            <p:cNvSpPr/>
            <p:nvPr/>
          </p:nvSpPr>
          <p:spPr>
            <a:xfrm>
              <a:off x="11118456" y="7602973"/>
              <a:ext cx="914262" cy="6521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grpSp>
        <p:nvGrpSpPr>
          <p:cNvPr id="185" name="Gruppieren 184">
            <a:extLst>
              <a:ext uri="{FF2B5EF4-FFF2-40B4-BE49-F238E27FC236}">
                <a16:creationId xmlns:a16="http://schemas.microsoft.com/office/drawing/2014/main" id="{886E97A7-8E9C-04F8-9B01-D4166106E3FD}"/>
              </a:ext>
            </a:extLst>
          </p:cNvPr>
          <p:cNvGrpSpPr/>
          <p:nvPr/>
        </p:nvGrpSpPr>
        <p:grpSpPr>
          <a:xfrm>
            <a:off x="274510" y="21068310"/>
            <a:ext cx="20892359" cy="8159279"/>
            <a:chOff x="10883545" y="2448643"/>
            <a:chExt cx="10049746" cy="7625709"/>
          </a:xfrm>
        </p:grpSpPr>
        <p:grpSp>
          <p:nvGrpSpPr>
            <p:cNvPr id="186" name="Gruppieren 185">
              <a:extLst>
                <a:ext uri="{FF2B5EF4-FFF2-40B4-BE49-F238E27FC236}">
                  <a16:creationId xmlns:a16="http://schemas.microsoft.com/office/drawing/2014/main" id="{17051032-8636-8A43-DA44-EE170EE6DC75}"/>
                </a:ext>
              </a:extLst>
            </p:cNvPr>
            <p:cNvGrpSpPr/>
            <p:nvPr/>
          </p:nvGrpSpPr>
          <p:grpSpPr>
            <a:xfrm>
              <a:off x="10883545" y="2448643"/>
              <a:ext cx="10049746" cy="7625709"/>
              <a:chOff x="887765" y="8560265"/>
              <a:chExt cx="9611254" cy="5022086"/>
            </a:xfrm>
          </p:grpSpPr>
          <p:sp>
            <p:nvSpPr>
              <p:cNvPr id="189" name="object 31">
                <a:extLst>
                  <a:ext uri="{FF2B5EF4-FFF2-40B4-BE49-F238E27FC236}">
                    <a16:creationId xmlns:a16="http://schemas.microsoft.com/office/drawing/2014/main" id="{733CBCD9-427A-8E00-B855-CAF704251BCD}"/>
                  </a:ext>
                </a:extLst>
              </p:cNvPr>
              <p:cNvSpPr txBox="1"/>
              <p:nvPr/>
            </p:nvSpPr>
            <p:spPr>
              <a:xfrm>
                <a:off x="1114940" y="8560265"/>
                <a:ext cx="6394307" cy="391373"/>
              </a:xfrm>
              <a:prstGeom prst="rect">
                <a:avLst/>
              </a:prstGeom>
            </p:spPr>
            <p:txBody>
              <a:bodyPr vert="horz" wrap="square" lIns="0" tIns="21002" rIns="0" bIns="0" rtlCol="0">
                <a:spAutoFit/>
              </a:bodyPr>
              <a:lstStyle/>
              <a:p>
                <a:pPr marL="19092">
                  <a:spcBef>
                    <a:spcPts val="165"/>
                  </a:spcBef>
                </a:pPr>
                <a:r>
                  <a:rPr lang="de-DE" sz="3608" b="1" spc="-56" baseline="1388" noProof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Research Area</a:t>
                </a:r>
                <a:endParaRPr lang="de-DE" sz="3608" baseline="1388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90" name="Gruppieren 189">
                <a:extLst>
                  <a:ext uri="{FF2B5EF4-FFF2-40B4-BE49-F238E27FC236}">
                    <a16:creationId xmlns:a16="http://schemas.microsoft.com/office/drawing/2014/main" id="{8E5C801B-DECC-02E1-4471-87ECDEEBFBEC}"/>
                  </a:ext>
                </a:extLst>
              </p:cNvPr>
              <p:cNvGrpSpPr/>
              <p:nvPr/>
            </p:nvGrpSpPr>
            <p:grpSpPr>
              <a:xfrm>
                <a:off x="887765" y="8560276"/>
                <a:ext cx="9611254" cy="5022075"/>
                <a:chOff x="604933" y="5626822"/>
                <a:chExt cx="6393232" cy="3281410"/>
              </a:xfrm>
            </p:grpSpPr>
            <p:sp>
              <p:nvSpPr>
                <p:cNvPr id="191" name="object 27">
                  <a:extLst>
                    <a:ext uri="{FF2B5EF4-FFF2-40B4-BE49-F238E27FC236}">
                      <a16:creationId xmlns:a16="http://schemas.microsoft.com/office/drawing/2014/main" id="{2AF5C513-CC96-7483-B0AA-63819C7353E8}"/>
                    </a:ext>
                  </a:extLst>
                </p:cNvPr>
                <p:cNvSpPr/>
                <p:nvPr/>
              </p:nvSpPr>
              <p:spPr>
                <a:xfrm>
                  <a:off x="604933" y="5626822"/>
                  <a:ext cx="6393232" cy="221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4450" h="432435">
                      <a:moveTo>
                        <a:pt x="6215556" y="0"/>
                      </a:moveTo>
                      <a:lnTo>
                        <a:pt x="178281" y="0"/>
                      </a:lnTo>
                      <a:lnTo>
                        <a:pt x="130886" y="6368"/>
                      </a:lnTo>
                      <a:lnTo>
                        <a:pt x="88298" y="24340"/>
                      </a:lnTo>
                      <a:lnTo>
                        <a:pt x="52216" y="52216"/>
                      </a:lnTo>
                      <a:lnTo>
                        <a:pt x="24340" y="88298"/>
                      </a:lnTo>
                      <a:lnTo>
                        <a:pt x="6368" y="130886"/>
                      </a:lnTo>
                      <a:lnTo>
                        <a:pt x="0" y="178281"/>
                      </a:lnTo>
                      <a:lnTo>
                        <a:pt x="0" y="432193"/>
                      </a:lnTo>
                      <a:lnTo>
                        <a:pt x="6393837" y="432193"/>
                      </a:lnTo>
                      <a:lnTo>
                        <a:pt x="6393837" y="178281"/>
                      </a:lnTo>
                      <a:lnTo>
                        <a:pt x="6387469" y="130886"/>
                      </a:lnTo>
                      <a:lnTo>
                        <a:pt x="6369497" y="88298"/>
                      </a:lnTo>
                      <a:lnTo>
                        <a:pt x="6341620" y="52216"/>
                      </a:lnTo>
                      <a:lnTo>
                        <a:pt x="6305539" y="24340"/>
                      </a:lnTo>
                      <a:lnTo>
                        <a:pt x="6262951" y="6368"/>
                      </a:lnTo>
                      <a:lnTo>
                        <a:pt x="6215556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005A9B"/>
                    </a:gs>
                    <a:gs pos="100000">
                      <a:schemeClr val="accent1">
                        <a:lumMod val="0"/>
                        <a:lumOff val="100000"/>
                        <a:alpha val="58000"/>
                      </a:schemeClr>
                    </a:gs>
                  </a:gsLst>
                  <a:lin ang="0" scaled="1"/>
                  <a:tileRect/>
                </a:gradFill>
              </p:spPr>
              <p:txBody>
                <a:bodyPr wrap="square" lIns="0" tIns="0" rIns="0" bIns="0" rtlCol="0"/>
                <a:lstStyle/>
                <a:p>
                  <a:endParaRPr lang="de-DE" noProof="0" dirty="0"/>
                </a:p>
              </p:txBody>
            </p:sp>
            <p:sp>
              <p:nvSpPr>
                <p:cNvPr id="192" name="object 31">
                  <a:extLst>
                    <a:ext uri="{FF2B5EF4-FFF2-40B4-BE49-F238E27FC236}">
                      <a16:creationId xmlns:a16="http://schemas.microsoft.com/office/drawing/2014/main" id="{6325ACF7-A8D4-CC1F-8F36-24D7B49CD71E}"/>
                    </a:ext>
                  </a:extLst>
                </p:cNvPr>
                <p:cNvSpPr txBox="1"/>
                <p:nvPr/>
              </p:nvSpPr>
              <p:spPr>
                <a:xfrm>
                  <a:off x="692532" y="5644884"/>
                  <a:ext cx="6217354" cy="185711"/>
                </a:xfrm>
                <a:prstGeom prst="rect">
                  <a:avLst/>
                </a:prstGeom>
              </p:spPr>
              <p:txBody>
                <a:bodyPr vert="horz" wrap="square" lIns="0" tIns="21002" rIns="0" bIns="0" rtlCol="0">
                  <a:spAutoFit/>
                </a:bodyPr>
                <a:lstStyle/>
                <a:p>
                  <a:pPr marL="19092">
                    <a:spcBef>
                      <a:spcPts val="165"/>
                    </a:spcBef>
                  </a:pPr>
                  <a:r>
                    <a:rPr lang="de-DE" sz="4000" b="1" spc="-37" baseline="1388" noProof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Results</a:t>
                  </a:r>
                  <a:endParaRPr lang="de-DE" sz="4000" baseline="1388" noProof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" name="Rechteck 192">
                  <a:extLst>
                    <a:ext uri="{FF2B5EF4-FFF2-40B4-BE49-F238E27FC236}">
                      <a16:creationId xmlns:a16="http://schemas.microsoft.com/office/drawing/2014/main" id="{2FCFE749-522A-32BC-9EBC-48359E6F1044}"/>
                    </a:ext>
                  </a:extLst>
                </p:cNvPr>
                <p:cNvSpPr/>
                <p:nvPr/>
              </p:nvSpPr>
              <p:spPr>
                <a:xfrm>
                  <a:off x="3776760" y="5848657"/>
                  <a:ext cx="3221405" cy="30595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>
                    <a:lnSpc>
                      <a:spcPct val="150000"/>
                    </a:lnSpc>
                  </a:pPr>
                  <a:r>
                    <a:rPr lang="de-DE" sz="2400" b="1" noProof="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Identifikation von 4 Clustern</a:t>
                  </a:r>
                  <a:r>
                    <a:rPr lang="de-DE" sz="2400" noProof="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</a:t>
                  </a:r>
                </a:p>
                <a:p>
                  <a:r>
                    <a:rPr lang="de-DE" sz="2400" noProof="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Cluster 0: </a:t>
                  </a: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Strukturschwächere Städte - Überwiegend im Ruhrgebiet und Ostdeutschland verortet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Cluster 1: Breiter Durchschnitt - Städte, die das allgemeine Mittel abbilden</a:t>
                  </a:r>
                  <a:endParaRPr lang="de-DE" sz="24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Cluster 2: Wohlhabende Metropolen - Hohes Einkommen und fortgeschrittene EV-Adoption</a:t>
                  </a:r>
                  <a:endParaRPr lang="de-DE" sz="24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Cluster 3: Automobil-Standorte (</a:t>
                  </a:r>
                  <a:r>
                    <a:rPr lang="de-DE" sz="2400" dirty="0" err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Outlier</a:t>
                  </a: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 - Ingolstadt und Wolfsburg</a:t>
                  </a:r>
                </a:p>
                <a:p>
                  <a:endParaRPr lang="de-DE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de-DE" sz="24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Erkenntnisse</a:t>
                  </a:r>
                </a:p>
                <a:p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Zusammenhang zwischen der wirtschaftlichen Leistungsfähigkeit und der Verbreitung von Elektromobilität. Das Einkommensniveau einer Stadt stellt aufgrund der hohen Anschaffungskosten von Elektrofahrzeugen einen entscheidenden Einflussfaktor für deren Adoption dar. </a:t>
                  </a:r>
                </a:p>
                <a:p>
                  <a:pPr marL="342900" indent="-342900">
                    <a:buFont typeface="Wingdings" pitchFamily="2" charset="2"/>
                    <a:buChar char="Ø"/>
                  </a:pP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Hohe EV-Dichte in wohlhabenden Metropolen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Ladeinfrastruktur als „Hygienefaktor“</a:t>
                  </a:r>
                </a:p>
                <a:p>
                  <a:pPr marL="342900" indent="-342900">
                    <a:buFont typeface="Wingdings" pitchFamily="2" charset="2"/>
                    <a:buChar char="Ø"/>
                  </a:pPr>
                  <a:r>
                    <a:rPr lang="de-DE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notwendige Voraussetzung zum Abbau von Nutzungsbarrieren, aber kein Treiber sofern bereits Vorhanden</a:t>
                  </a:r>
                </a:p>
                <a:p>
                  <a:endParaRPr lang="de-DE" sz="24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endParaRPr lang="de-DE" sz="24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87" name="Rechteck 186">
              <a:extLst>
                <a:ext uri="{FF2B5EF4-FFF2-40B4-BE49-F238E27FC236}">
                  <a16:creationId xmlns:a16="http://schemas.microsoft.com/office/drawing/2014/main" id="{38209EC4-541C-F6A3-DA9A-4677E97D57C2}"/>
                </a:ext>
              </a:extLst>
            </p:cNvPr>
            <p:cNvSpPr/>
            <p:nvPr/>
          </p:nvSpPr>
          <p:spPr>
            <a:xfrm>
              <a:off x="11118456" y="7602973"/>
              <a:ext cx="914262" cy="6521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0A3F8807-A741-02AD-E69C-415E3B1148CB}"/>
              </a:ext>
            </a:extLst>
          </p:cNvPr>
          <p:cNvSpPr txBox="1"/>
          <p:nvPr/>
        </p:nvSpPr>
        <p:spPr>
          <a:xfrm>
            <a:off x="491052" y="29301739"/>
            <a:ext cx="425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Name: Jakob Wenzel</a:t>
            </a:r>
          </a:p>
        </p:txBody>
      </p:sp>
      <p:grpSp>
        <p:nvGrpSpPr>
          <p:cNvPr id="20" name="Gruppieren 154">
            <a:extLst>
              <a:ext uri="{FF2B5EF4-FFF2-40B4-BE49-F238E27FC236}">
                <a16:creationId xmlns:a16="http://schemas.microsoft.com/office/drawing/2014/main" id="{A524BC5A-BF35-B300-2C45-BB9077F72BF8}"/>
              </a:ext>
            </a:extLst>
          </p:cNvPr>
          <p:cNvGrpSpPr/>
          <p:nvPr/>
        </p:nvGrpSpPr>
        <p:grpSpPr>
          <a:xfrm>
            <a:off x="11087871" y="1857397"/>
            <a:ext cx="10071697" cy="1784304"/>
            <a:chOff x="277719" y="2360920"/>
            <a:chExt cx="10049746" cy="1784304"/>
          </a:xfrm>
        </p:grpSpPr>
        <p:grpSp>
          <p:nvGrpSpPr>
            <p:cNvPr id="21" name="Gruppieren 129">
              <a:extLst>
                <a:ext uri="{FF2B5EF4-FFF2-40B4-BE49-F238E27FC236}">
                  <a16:creationId xmlns:a16="http://schemas.microsoft.com/office/drawing/2014/main" id="{CBF7F90F-846A-60DD-03A7-2499EBB9C9E7}"/>
                </a:ext>
              </a:extLst>
            </p:cNvPr>
            <p:cNvGrpSpPr/>
            <p:nvPr/>
          </p:nvGrpSpPr>
          <p:grpSpPr>
            <a:xfrm>
              <a:off x="277719" y="2360920"/>
              <a:ext cx="10049746" cy="1784304"/>
              <a:chOff x="887765" y="8560265"/>
              <a:chExt cx="9611254" cy="1175094"/>
            </a:xfrm>
          </p:grpSpPr>
          <p:sp>
            <p:nvSpPr>
              <p:cNvPr id="31" name="object 31">
                <a:extLst>
                  <a:ext uri="{FF2B5EF4-FFF2-40B4-BE49-F238E27FC236}">
                    <a16:creationId xmlns:a16="http://schemas.microsoft.com/office/drawing/2014/main" id="{317102E9-5609-3BD0-0135-F1178A24FB6A}"/>
                  </a:ext>
                </a:extLst>
              </p:cNvPr>
              <p:cNvSpPr txBox="1"/>
              <p:nvPr/>
            </p:nvSpPr>
            <p:spPr>
              <a:xfrm>
                <a:off x="1114940" y="8560265"/>
                <a:ext cx="6394307" cy="391373"/>
              </a:xfrm>
              <a:prstGeom prst="rect">
                <a:avLst/>
              </a:prstGeom>
            </p:spPr>
            <p:txBody>
              <a:bodyPr vert="horz" wrap="square" lIns="0" tIns="21002" rIns="0" bIns="0" rtlCol="0">
                <a:spAutoFit/>
              </a:bodyPr>
              <a:lstStyle/>
              <a:p>
                <a:pPr marL="19092">
                  <a:spcBef>
                    <a:spcPts val="165"/>
                  </a:spcBef>
                </a:pPr>
                <a:r>
                  <a:rPr lang="de-DE" sz="3608" b="1" spc="-56" baseline="1388" noProof="0" dirty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Research Area</a:t>
                </a:r>
                <a:endParaRPr lang="de-DE" sz="3608" baseline="1388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" name="Gruppieren 131">
                <a:extLst>
                  <a:ext uri="{FF2B5EF4-FFF2-40B4-BE49-F238E27FC236}">
                    <a16:creationId xmlns:a16="http://schemas.microsoft.com/office/drawing/2014/main" id="{32E3F180-F037-1259-6041-721690EF32A6}"/>
                  </a:ext>
                </a:extLst>
              </p:cNvPr>
              <p:cNvGrpSpPr/>
              <p:nvPr/>
            </p:nvGrpSpPr>
            <p:grpSpPr>
              <a:xfrm>
                <a:off x="887765" y="8560272"/>
                <a:ext cx="9611254" cy="1175087"/>
                <a:chOff x="604933" y="5626821"/>
                <a:chExt cx="6393232" cy="767799"/>
              </a:xfrm>
            </p:grpSpPr>
            <p:sp>
              <p:nvSpPr>
                <p:cNvPr id="38" name="object 27">
                  <a:extLst>
                    <a:ext uri="{FF2B5EF4-FFF2-40B4-BE49-F238E27FC236}">
                      <a16:creationId xmlns:a16="http://schemas.microsoft.com/office/drawing/2014/main" id="{64AC63CC-28F3-0287-493D-AAA5511BED83}"/>
                    </a:ext>
                  </a:extLst>
                </p:cNvPr>
                <p:cNvSpPr/>
                <p:nvPr/>
              </p:nvSpPr>
              <p:spPr>
                <a:xfrm>
                  <a:off x="604933" y="5626821"/>
                  <a:ext cx="6393232" cy="221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4450" h="432435">
                      <a:moveTo>
                        <a:pt x="6215556" y="0"/>
                      </a:moveTo>
                      <a:lnTo>
                        <a:pt x="178281" y="0"/>
                      </a:lnTo>
                      <a:lnTo>
                        <a:pt x="130886" y="6368"/>
                      </a:lnTo>
                      <a:lnTo>
                        <a:pt x="88298" y="24340"/>
                      </a:lnTo>
                      <a:lnTo>
                        <a:pt x="52216" y="52216"/>
                      </a:lnTo>
                      <a:lnTo>
                        <a:pt x="24340" y="88298"/>
                      </a:lnTo>
                      <a:lnTo>
                        <a:pt x="6368" y="130886"/>
                      </a:lnTo>
                      <a:lnTo>
                        <a:pt x="0" y="178281"/>
                      </a:lnTo>
                      <a:lnTo>
                        <a:pt x="0" y="432193"/>
                      </a:lnTo>
                      <a:lnTo>
                        <a:pt x="6393837" y="432193"/>
                      </a:lnTo>
                      <a:lnTo>
                        <a:pt x="6393837" y="178281"/>
                      </a:lnTo>
                      <a:lnTo>
                        <a:pt x="6387469" y="130886"/>
                      </a:lnTo>
                      <a:lnTo>
                        <a:pt x="6369497" y="88298"/>
                      </a:lnTo>
                      <a:lnTo>
                        <a:pt x="6341620" y="52216"/>
                      </a:lnTo>
                      <a:lnTo>
                        <a:pt x="6305539" y="24340"/>
                      </a:lnTo>
                      <a:lnTo>
                        <a:pt x="6262951" y="6368"/>
                      </a:lnTo>
                      <a:lnTo>
                        <a:pt x="62155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5A9B"/>
                    </a:gs>
                    <a:gs pos="100000">
                      <a:schemeClr val="accent1">
                        <a:lumMod val="0"/>
                        <a:lumOff val="100000"/>
                        <a:alpha val="58000"/>
                      </a:schemeClr>
                    </a:gs>
                  </a:gsLst>
                  <a:lin ang="0" scaled="1"/>
                </a:gradFill>
              </p:spPr>
              <p:txBody>
                <a:bodyPr wrap="square" lIns="0" tIns="0" rIns="0" bIns="0" rtlCol="0"/>
                <a:lstStyle/>
                <a:p>
                  <a:endParaRPr lang="de-DE" noProof="0" dirty="0"/>
                </a:p>
              </p:txBody>
            </p:sp>
            <p:sp>
              <p:nvSpPr>
                <p:cNvPr id="49" name="object 31">
                  <a:extLst>
                    <a:ext uri="{FF2B5EF4-FFF2-40B4-BE49-F238E27FC236}">
                      <a16:creationId xmlns:a16="http://schemas.microsoft.com/office/drawing/2014/main" id="{6E937A64-B97C-22E5-F052-C4EBC2F7DBF9}"/>
                    </a:ext>
                  </a:extLst>
                </p:cNvPr>
                <p:cNvSpPr txBox="1"/>
                <p:nvPr/>
              </p:nvSpPr>
              <p:spPr>
                <a:xfrm>
                  <a:off x="756046" y="5645035"/>
                  <a:ext cx="6217354" cy="185711"/>
                </a:xfrm>
                <a:prstGeom prst="rect">
                  <a:avLst/>
                </a:prstGeom>
              </p:spPr>
              <p:txBody>
                <a:bodyPr vert="horz" wrap="square" lIns="0" tIns="21002" rIns="0" bIns="0" rtlCol="0">
                  <a:spAutoFit/>
                </a:bodyPr>
                <a:lstStyle/>
                <a:p>
                  <a:pPr marL="19092">
                    <a:spcBef>
                      <a:spcPts val="165"/>
                    </a:spcBef>
                  </a:pPr>
                  <a:r>
                    <a:rPr lang="de-DE" sz="4000" b="1" spc="-37" baseline="1388" noProof="0" dirty="0">
                      <a:solidFill>
                        <a:srgbClr val="FFFF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Forschungsfrage</a:t>
                  </a:r>
                  <a:endParaRPr lang="de-DE" sz="4000" baseline="1388" noProof="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" name="Rechteck 134">
                  <a:extLst>
                    <a:ext uri="{FF2B5EF4-FFF2-40B4-BE49-F238E27FC236}">
                      <a16:creationId xmlns:a16="http://schemas.microsoft.com/office/drawing/2014/main" id="{D293B656-DC83-6CB2-54C9-FC8AF2498BEA}"/>
                    </a:ext>
                  </a:extLst>
                </p:cNvPr>
                <p:cNvSpPr/>
                <p:nvPr/>
              </p:nvSpPr>
              <p:spPr>
                <a:xfrm>
                  <a:off x="604933" y="5848657"/>
                  <a:ext cx="6393232" cy="545963"/>
                </a:xfrm>
                <a:prstGeom prst="rect">
                  <a:avLst/>
                </a:prstGeom>
                <a:solidFill>
                  <a:schemeClr val="bg1"/>
                </a:solidFill>
                <a:ln>
                  <a:gradFill flip="none" rotWithShape="1">
                    <a:gsLst>
                      <a:gs pos="0">
                        <a:srgbClr val="005A9B"/>
                      </a:gs>
                      <a:gs pos="100000">
                        <a:schemeClr val="bg1"/>
                      </a:gs>
                    </a:gsLst>
                    <a:lin ang="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noProof="0" dirty="0"/>
                </a:p>
              </p:txBody>
            </p:sp>
          </p:grpSp>
        </p:grpSp>
        <p:sp>
          <p:nvSpPr>
            <p:cNvPr id="24" name="object 25">
              <a:extLst>
                <a:ext uri="{FF2B5EF4-FFF2-40B4-BE49-F238E27FC236}">
                  <a16:creationId xmlns:a16="http://schemas.microsoft.com/office/drawing/2014/main" id="{AB01013F-631F-91D0-89A8-99F480CFC830}"/>
                </a:ext>
              </a:extLst>
            </p:cNvPr>
            <p:cNvSpPr txBox="1"/>
            <p:nvPr/>
          </p:nvSpPr>
          <p:spPr>
            <a:xfrm>
              <a:off x="333877" y="3021455"/>
              <a:ext cx="9927416" cy="1036182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 anchor="ctr" anchorCtr="0"/>
            <a:lstStyle>
              <a:defPPr>
                <a:defRPr lang="en-US"/>
              </a:defPPr>
              <a:lvl1pPr marL="267287" marR="7637" indent="-267287">
                <a:spcBef>
                  <a:spcPts val="443"/>
                </a:spcBef>
                <a:buClr>
                  <a:srgbClr val="00599A"/>
                </a:buClr>
                <a:buFont typeface="Times New Roman"/>
                <a:buChar char="•"/>
                <a:defRPr sz="3200" spc="-23" baseline="1683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marL="0" indent="0" algn="ctr">
                <a:buNone/>
              </a:pPr>
              <a:r>
                <a:rPr lang="de-DE" sz="2400" baseline="0" dirty="0"/>
                <a:t>Inwiefern lassen sich deutsche Großstädte anhand von Ladeinfrastruktur, </a:t>
              </a:r>
              <a:br>
                <a:rPr lang="de-DE" sz="2400" baseline="0" dirty="0"/>
              </a:br>
              <a:r>
                <a:rPr lang="de-DE" sz="2400" baseline="0" dirty="0"/>
                <a:t>Bevölkerung, Einkommen und Elektromobilität klassifizieren?</a:t>
              </a:r>
              <a:endParaRPr lang="de-DE" sz="2400" baseline="0" noProof="0" dirty="0"/>
            </a:p>
          </p:txBody>
        </p:sp>
      </p:grpSp>
      <p:grpSp>
        <p:nvGrpSpPr>
          <p:cNvPr id="58" name="Gruppieren 59">
            <a:extLst>
              <a:ext uri="{FF2B5EF4-FFF2-40B4-BE49-F238E27FC236}">
                <a16:creationId xmlns:a16="http://schemas.microsoft.com/office/drawing/2014/main" id="{BDF94ED2-9833-F743-EE92-733997BC00A2}"/>
              </a:ext>
            </a:extLst>
          </p:cNvPr>
          <p:cNvGrpSpPr/>
          <p:nvPr/>
        </p:nvGrpSpPr>
        <p:grpSpPr>
          <a:xfrm>
            <a:off x="11072153" y="3923406"/>
            <a:ext cx="10315131" cy="7058622"/>
            <a:chOff x="887765" y="8560265"/>
            <a:chExt cx="9611254" cy="4292441"/>
          </a:xfrm>
        </p:grpSpPr>
        <p:sp>
          <p:nvSpPr>
            <p:cNvPr id="59" name="object 31">
              <a:extLst>
                <a:ext uri="{FF2B5EF4-FFF2-40B4-BE49-F238E27FC236}">
                  <a16:creationId xmlns:a16="http://schemas.microsoft.com/office/drawing/2014/main" id="{58103ABB-7BE8-0992-7562-81B63A01E989}"/>
                </a:ext>
              </a:extLst>
            </p:cNvPr>
            <p:cNvSpPr txBox="1"/>
            <p:nvPr/>
          </p:nvSpPr>
          <p:spPr>
            <a:xfrm>
              <a:off x="1114940" y="8560265"/>
              <a:ext cx="6394307" cy="391373"/>
            </a:xfrm>
            <a:prstGeom prst="rect">
              <a:avLst/>
            </a:prstGeom>
          </p:spPr>
          <p:txBody>
            <a:bodyPr vert="horz" wrap="square" lIns="0" tIns="21002" rIns="0" bIns="0" rtlCol="0">
              <a:spAutoFit/>
            </a:bodyPr>
            <a:lstStyle/>
            <a:p>
              <a:pPr marL="19092">
                <a:spcBef>
                  <a:spcPts val="165"/>
                </a:spcBef>
              </a:pPr>
              <a:r>
                <a:rPr lang="de-DE" sz="3608" b="1" spc="-56" baseline="1388" noProof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Research Area</a:t>
              </a:r>
              <a:endParaRPr lang="de-DE" sz="3608" baseline="1388" noProof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6" name="Gruppieren 61">
              <a:extLst>
                <a:ext uri="{FF2B5EF4-FFF2-40B4-BE49-F238E27FC236}">
                  <a16:creationId xmlns:a16="http://schemas.microsoft.com/office/drawing/2014/main" id="{2BE12CCB-B60B-10D4-FC1D-2E6EF9CCB2B7}"/>
                </a:ext>
              </a:extLst>
            </p:cNvPr>
            <p:cNvGrpSpPr/>
            <p:nvPr/>
          </p:nvGrpSpPr>
          <p:grpSpPr>
            <a:xfrm>
              <a:off x="887765" y="8560276"/>
              <a:ext cx="9611254" cy="4292430"/>
              <a:chOff x="604933" y="5626821"/>
              <a:chExt cx="6393232" cy="2804662"/>
            </a:xfrm>
          </p:grpSpPr>
          <p:sp>
            <p:nvSpPr>
              <p:cNvPr id="137" name="Rechteck 128">
                <a:extLst>
                  <a:ext uri="{FF2B5EF4-FFF2-40B4-BE49-F238E27FC236}">
                    <a16:creationId xmlns:a16="http://schemas.microsoft.com/office/drawing/2014/main" id="{58F736D2-6C3D-C6F4-48CF-BFEC9F387181}"/>
                  </a:ext>
                </a:extLst>
              </p:cNvPr>
              <p:cNvSpPr/>
              <p:nvPr/>
            </p:nvSpPr>
            <p:spPr>
              <a:xfrm>
                <a:off x="604934" y="5848654"/>
                <a:ext cx="6390964" cy="2582829"/>
              </a:xfrm>
              <a:prstGeom prst="rect">
                <a:avLst/>
              </a:prstGeom>
              <a:solidFill>
                <a:schemeClr val="bg1"/>
              </a:solidFill>
              <a:ln>
                <a:gradFill flip="none" rotWithShape="1">
                  <a:gsLst>
                    <a:gs pos="0">
                      <a:srgbClr val="005A9B"/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de-DE" sz="24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Datensätze</a:t>
                </a:r>
                <a:r>
                  <a:rPr lang="de-DE" sz="24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457200" indent="-457200">
                  <a:buAutoNum type="arabicPeriod"/>
                </a:pPr>
                <a:r>
                  <a:rPr lang="de-DE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% EV Anteil des KBA						  </a:t>
                </a:r>
                <a:endParaRPr lang="de-DE" sz="2400" dirty="0">
                  <a:solidFill>
                    <a:schemeClr val="tx1"/>
                  </a:solidFill>
                  <a:highlight>
                    <a:srgbClr val="FF0000"/>
                  </a:highlight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AutoNum type="arabicPeriod"/>
                </a:pPr>
                <a:r>
                  <a:rPr lang="de-DE" sz="24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Ladepunkte der Bundesnetzagentur 	       </a:t>
                </a:r>
                <a:r>
                  <a:rPr lang="de-DE" sz="2400" noProof="0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</a:p>
              <a:p>
                <a:pPr marL="457200" indent="-457200">
                  <a:buAutoNum type="arabicPeriod"/>
                </a:pPr>
                <a:r>
                  <a:rPr lang="de-DE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Einkommen 			        </a:t>
                </a:r>
              </a:p>
              <a:p>
                <a:pPr marL="457200" indent="-457200">
                  <a:buAutoNum type="arabicPeriod"/>
                </a:pPr>
                <a:r>
                  <a:rPr lang="de-DE" sz="24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Population                                               </a:t>
                </a:r>
              </a:p>
              <a:p>
                <a:pPr marL="457200" indent="-457200">
                  <a:buAutoNum type="arabicPeriod"/>
                </a:pPr>
                <a:endParaRPr lang="de-DE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de-DE" sz="2400" b="1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Master Datensatz</a:t>
                </a:r>
                <a:r>
                  <a:rPr lang="de-DE" sz="2400" noProof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endParaRPr lang="de-DE" sz="24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AutoNum type="arabicPeriod"/>
                </a:pPr>
                <a:endParaRPr lang="de-DE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de-DE" sz="24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de-DE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de-DE" sz="24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de-DE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de-DE" sz="24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de-DE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de-DE" sz="2400" noProof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object 27">
                <a:extLst>
                  <a:ext uri="{FF2B5EF4-FFF2-40B4-BE49-F238E27FC236}">
                    <a16:creationId xmlns:a16="http://schemas.microsoft.com/office/drawing/2014/main" id="{A998F125-24FA-4043-9B9B-2EE1CA559DCA}"/>
                  </a:ext>
                </a:extLst>
              </p:cNvPr>
              <p:cNvSpPr/>
              <p:nvPr/>
            </p:nvSpPr>
            <p:spPr>
              <a:xfrm>
                <a:off x="604933" y="5626821"/>
                <a:ext cx="6393232" cy="221835"/>
              </a:xfrm>
              <a:custGeom>
                <a:avLst/>
                <a:gdLst/>
                <a:ahLst/>
                <a:cxnLst/>
                <a:rect l="l" t="t" r="r" b="b"/>
                <a:pathLst>
                  <a:path w="6394450" h="432435">
                    <a:moveTo>
                      <a:pt x="6215556" y="0"/>
                    </a:moveTo>
                    <a:lnTo>
                      <a:pt x="178281" y="0"/>
                    </a:lnTo>
                    <a:lnTo>
                      <a:pt x="130886" y="6368"/>
                    </a:lnTo>
                    <a:lnTo>
                      <a:pt x="88298" y="24340"/>
                    </a:lnTo>
                    <a:lnTo>
                      <a:pt x="52216" y="52216"/>
                    </a:lnTo>
                    <a:lnTo>
                      <a:pt x="24340" y="88298"/>
                    </a:lnTo>
                    <a:lnTo>
                      <a:pt x="6368" y="130886"/>
                    </a:lnTo>
                    <a:lnTo>
                      <a:pt x="0" y="178281"/>
                    </a:lnTo>
                    <a:lnTo>
                      <a:pt x="0" y="432193"/>
                    </a:lnTo>
                    <a:lnTo>
                      <a:pt x="6393837" y="432193"/>
                    </a:lnTo>
                    <a:lnTo>
                      <a:pt x="6393837" y="178281"/>
                    </a:lnTo>
                    <a:lnTo>
                      <a:pt x="6387469" y="130886"/>
                    </a:lnTo>
                    <a:lnTo>
                      <a:pt x="6369497" y="88298"/>
                    </a:lnTo>
                    <a:lnTo>
                      <a:pt x="6341620" y="52216"/>
                    </a:lnTo>
                    <a:lnTo>
                      <a:pt x="6305539" y="24340"/>
                    </a:lnTo>
                    <a:lnTo>
                      <a:pt x="6262951" y="6368"/>
                    </a:lnTo>
                    <a:lnTo>
                      <a:pt x="62155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5A9B"/>
                  </a:gs>
                  <a:gs pos="100000">
                    <a:schemeClr val="accent1">
                      <a:lumMod val="0"/>
                      <a:lumOff val="100000"/>
                      <a:alpha val="58000"/>
                    </a:schemeClr>
                  </a:gs>
                </a:gsLst>
                <a:lin ang="0" scaled="1"/>
              </a:gradFill>
            </p:spPr>
            <p:txBody>
              <a:bodyPr wrap="square" lIns="0" tIns="0" rIns="0" bIns="0" rtlCol="0"/>
              <a:lstStyle/>
              <a:p>
                <a:endParaRPr lang="de-DE" noProof="0" dirty="0"/>
              </a:p>
            </p:txBody>
          </p:sp>
          <p:sp>
            <p:nvSpPr>
              <p:cNvPr id="141" name="object 31">
                <a:extLst>
                  <a:ext uri="{FF2B5EF4-FFF2-40B4-BE49-F238E27FC236}">
                    <a16:creationId xmlns:a16="http://schemas.microsoft.com/office/drawing/2014/main" id="{0E0F3A39-A450-6FBF-503E-9725FF80CEBE}"/>
                  </a:ext>
                </a:extLst>
              </p:cNvPr>
              <p:cNvSpPr txBox="1"/>
              <p:nvPr/>
            </p:nvSpPr>
            <p:spPr>
              <a:xfrm>
                <a:off x="756046" y="5645035"/>
                <a:ext cx="6217354" cy="171482"/>
              </a:xfrm>
              <a:prstGeom prst="rect">
                <a:avLst/>
              </a:prstGeom>
            </p:spPr>
            <p:txBody>
              <a:bodyPr vert="horz" wrap="square" lIns="0" tIns="21002" rIns="0" bIns="0" rtlCol="0">
                <a:spAutoFit/>
              </a:bodyPr>
              <a:lstStyle/>
              <a:p>
                <a:pPr marL="19092">
                  <a:spcBef>
                    <a:spcPts val="165"/>
                  </a:spcBef>
                </a:pPr>
                <a:r>
                  <a:rPr lang="de-DE" sz="4000" b="1" spc="-37" baseline="1388" noProof="0" dirty="0">
                    <a:solidFill>
                      <a:srgbClr val="FFFF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Datensätze</a:t>
                </a:r>
                <a:endParaRPr lang="de-DE" sz="4000" baseline="1388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aphicFrame>
        <p:nvGraphicFramePr>
          <p:cNvPr id="145" name="Table 144">
            <a:extLst>
              <a:ext uri="{FF2B5EF4-FFF2-40B4-BE49-F238E27FC236}">
                <a16:creationId xmlns:a16="http://schemas.microsoft.com/office/drawing/2014/main" id="{A3235794-FB71-D35B-BD9F-8577B969E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504992"/>
              </p:ext>
            </p:extLst>
          </p:nvPr>
        </p:nvGraphicFramePr>
        <p:xfrm>
          <a:off x="11144152" y="7329017"/>
          <a:ext cx="10203175" cy="2739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310">
                  <a:extLst>
                    <a:ext uri="{9D8B030D-6E8A-4147-A177-3AD203B41FA5}">
                      <a16:colId xmlns:a16="http://schemas.microsoft.com/office/drawing/2014/main" val="2102634182"/>
                    </a:ext>
                  </a:extLst>
                </a:gridCol>
                <a:gridCol w="992512">
                  <a:extLst>
                    <a:ext uri="{9D8B030D-6E8A-4147-A177-3AD203B41FA5}">
                      <a16:colId xmlns:a16="http://schemas.microsoft.com/office/drawing/2014/main" val="1466905834"/>
                    </a:ext>
                  </a:extLst>
                </a:gridCol>
                <a:gridCol w="1122677">
                  <a:extLst>
                    <a:ext uri="{9D8B030D-6E8A-4147-A177-3AD203B41FA5}">
                      <a16:colId xmlns:a16="http://schemas.microsoft.com/office/drawing/2014/main" val="3430865080"/>
                    </a:ext>
                  </a:extLst>
                </a:gridCol>
                <a:gridCol w="1887401">
                  <a:extLst>
                    <a:ext uri="{9D8B030D-6E8A-4147-A177-3AD203B41FA5}">
                      <a16:colId xmlns:a16="http://schemas.microsoft.com/office/drawing/2014/main" val="65777242"/>
                    </a:ext>
                  </a:extLst>
                </a:gridCol>
                <a:gridCol w="1448090">
                  <a:extLst>
                    <a:ext uri="{9D8B030D-6E8A-4147-A177-3AD203B41FA5}">
                      <a16:colId xmlns:a16="http://schemas.microsoft.com/office/drawing/2014/main" val="3160088049"/>
                    </a:ext>
                  </a:extLst>
                </a:gridCol>
                <a:gridCol w="1122678">
                  <a:extLst>
                    <a:ext uri="{9D8B030D-6E8A-4147-A177-3AD203B41FA5}">
                      <a16:colId xmlns:a16="http://schemas.microsoft.com/office/drawing/2014/main" val="1539327963"/>
                    </a:ext>
                  </a:extLst>
                </a:gridCol>
                <a:gridCol w="1500110">
                  <a:extLst>
                    <a:ext uri="{9D8B030D-6E8A-4147-A177-3AD203B41FA5}">
                      <a16:colId xmlns:a16="http://schemas.microsoft.com/office/drawing/2014/main" val="1778118336"/>
                    </a:ext>
                  </a:extLst>
                </a:gridCol>
                <a:gridCol w="1275397">
                  <a:extLst>
                    <a:ext uri="{9D8B030D-6E8A-4147-A177-3AD203B41FA5}">
                      <a16:colId xmlns:a16="http://schemas.microsoft.com/office/drawing/2014/main" val="589725706"/>
                    </a:ext>
                  </a:extLst>
                </a:gridCol>
              </a:tblGrid>
              <a:tr h="155034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Ags</a:t>
                      </a:r>
                      <a:endParaRPr lang="en-US" sz="2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Stadt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Ev_</a:t>
                      </a:r>
                      <a:br>
                        <a:rPr lang="en-US" sz="2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anteil_pct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Lade-punkte_pro_1000ew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9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Ein-</a:t>
                      </a:r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kommen</a:t>
                      </a:r>
                      <a:br>
                        <a:rPr lang="en-US" sz="2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_</a:t>
                      </a:r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eur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Bev_</a:t>
                      </a:r>
                      <a:br>
                        <a:rPr lang="en-US" sz="2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dichte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E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Lade-</a:t>
                      </a:r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punkte_gesamt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Einwohner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647927"/>
                  </a:ext>
                </a:extLst>
              </a:tr>
              <a:tr h="1185559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Lade-</a:t>
                      </a:r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punkte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+ </a:t>
                      </a:r>
                      <a:r>
                        <a:rPr lang="en-US" sz="2400" b="1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Einwohner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505226"/>
                  </a:ext>
                </a:extLst>
              </a:tr>
            </a:tbl>
          </a:graphicData>
        </a:graphic>
      </p:graphicFrame>
      <p:sp>
        <p:nvSpPr>
          <p:cNvPr id="146" name="Rectangle 145">
            <a:extLst>
              <a:ext uri="{FF2B5EF4-FFF2-40B4-BE49-F238E27FC236}">
                <a16:creationId xmlns:a16="http://schemas.microsoft.com/office/drawing/2014/main" id="{7D2F2A9E-D53F-ED44-0CC8-827356824705}"/>
              </a:ext>
            </a:extLst>
          </p:cNvPr>
          <p:cNvSpPr>
            <a:spLocks noChangeAspect="1"/>
          </p:cNvSpPr>
          <p:nvPr/>
        </p:nvSpPr>
        <p:spPr>
          <a:xfrm>
            <a:off x="17508512" y="4896039"/>
            <a:ext cx="274320" cy="274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DCE70771-D827-E47D-BEA7-4D1B1F411240}"/>
              </a:ext>
            </a:extLst>
          </p:cNvPr>
          <p:cNvSpPr>
            <a:spLocks noChangeAspect="1"/>
          </p:cNvSpPr>
          <p:nvPr/>
        </p:nvSpPr>
        <p:spPr>
          <a:xfrm>
            <a:off x="17508512" y="5259921"/>
            <a:ext cx="274320" cy="274320"/>
          </a:xfrm>
          <a:prstGeom prst="rect">
            <a:avLst/>
          </a:prstGeom>
          <a:solidFill>
            <a:srgbClr val="FFF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7C3492F-6F49-956C-444F-09A71E26CF04}"/>
              </a:ext>
            </a:extLst>
          </p:cNvPr>
          <p:cNvSpPr>
            <a:spLocks noChangeAspect="1"/>
          </p:cNvSpPr>
          <p:nvPr/>
        </p:nvSpPr>
        <p:spPr>
          <a:xfrm>
            <a:off x="17508512" y="5632045"/>
            <a:ext cx="274320" cy="27432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3BDC25EF-4081-9A96-55DD-C7E490BF41DF}"/>
              </a:ext>
            </a:extLst>
          </p:cNvPr>
          <p:cNvSpPr>
            <a:spLocks noChangeAspect="1"/>
          </p:cNvSpPr>
          <p:nvPr/>
        </p:nvSpPr>
        <p:spPr>
          <a:xfrm>
            <a:off x="17508512" y="5997984"/>
            <a:ext cx="274320" cy="274320"/>
          </a:xfrm>
          <a:prstGeom prst="rect">
            <a:avLst/>
          </a:prstGeom>
          <a:solidFill>
            <a:srgbClr val="002E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Picture 155">
            <a:extLst>
              <a:ext uri="{FF2B5EF4-FFF2-40B4-BE49-F238E27FC236}">
                <a16:creationId xmlns:a16="http://schemas.microsoft.com/office/drawing/2014/main" id="{FDC72658-7E48-5A52-81FE-226CB8B520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54" y="14992481"/>
            <a:ext cx="9397813" cy="3748565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AEDC4F83-AFF1-587F-BC76-437D3B7675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663" y="21662401"/>
            <a:ext cx="6270017" cy="4984312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F9DD58A2-DBCB-B825-FD3C-24DB047921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4925" y="17089145"/>
            <a:ext cx="4970349" cy="3712367"/>
          </a:xfrm>
          <a:prstGeom prst="rect">
            <a:avLst/>
          </a:prstGeom>
        </p:spPr>
      </p:pic>
      <p:pic>
        <p:nvPicPr>
          <p:cNvPr id="175" name="Picture 174">
            <a:extLst>
              <a:ext uri="{FF2B5EF4-FFF2-40B4-BE49-F238E27FC236}">
                <a16:creationId xmlns:a16="http://schemas.microsoft.com/office/drawing/2014/main" id="{F16451E0-8F44-2C2A-7657-274A2029E7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54" y="26836909"/>
            <a:ext cx="9397813" cy="2033965"/>
          </a:xfrm>
          <a:prstGeom prst="rect">
            <a:avLst/>
          </a:prstGeom>
        </p:spPr>
      </p:pic>
      <p:sp>
        <p:nvSpPr>
          <p:cNvPr id="176" name="TextBox 175">
            <a:extLst>
              <a:ext uri="{FF2B5EF4-FFF2-40B4-BE49-F238E27FC236}">
                <a16:creationId xmlns:a16="http://schemas.microsoft.com/office/drawing/2014/main" id="{D220842B-191C-75FE-9134-5BBC83C605AE}"/>
              </a:ext>
            </a:extLst>
          </p:cNvPr>
          <p:cNvSpPr txBox="1"/>
          <p:nvPr/>
        </p:nvSpPr>
        <p:spPr>
          <a:xfrm>
            <a:off x="10720691" y="11906000"/>
            <a:ext cx="1041646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Initialisierung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Zentroid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𝑐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uniform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zufällig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aus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Folgezentoiden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Minimiert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Erwartungswert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der Inertia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erstem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Iterationsschritt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Zuweisungsschritt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Update-Schritt</a:t>
            </a:r>
          </a:p>
          <a:p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Konvergenz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Lokales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Minimum der Within-Cluster Sum of Squares (WCSS)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n_init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=10 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zur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Approximation des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globalen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Minimums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E988FE48-4AA6-7805-8747-31D950DC92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1712" y="12696074"/>
            <a:ext cx="2772728" cy="7228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6DED285E-52DF-2F37-26D2-6119AA59D9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6126" y="14198902"/>
            <a:ext cx="3263900" cy="622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4869726E-CFD9-D948-4E95-A0C6489101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1712" y="15120808"/>
            <a:ext cx="2641600" cy="990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8" name="Rectangle 197">
            <a:extLst>
              <a:ext uri="{FF2B5EF4-FFF2-40B4-BE49-F238E27FC236}">
                <a16:creationId xmlns:a16="http://schemas.microsoft.com/office/drawing/2014/main" id="{8C7FE800-3937-7DAF-E331-0DC62E6C03F3}"/>
              </a:ext>
            </a:extLst>
          </p:cNvPr>
          <p:cNvSpPr/>
          <p:nvPr/>
        </p:nvSpPr>
        <p:spPr>
          <a:xfrm>
            <a:off x="274510" y="21619923"/>
            <a:ext cx="20818742" cy="7420744"/>
          </a:xfrm>
          <a:prstGeom prst="rect">
            <a:avLst/>
          </a:prstGeom>
          <a:noFill/>
          <a:ln>
            <a:gradFill flip="none" rotWithShape="1">
              <a:gsLst>
                <a:gs pos="0">
                  <a:srgbClr val="005A9B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01693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2edc9e9-ce3e-4705-8eb3-c437d71ca131">
      <Terms xmlns="http://schemas.microsoft.com/office/infopath/2007/PartnerControls"/>
    </lcf76f155ced4ddcb4097134ff3c332f>
    <TaxCatchAll xmlns="a53c734f-558f-4d8c-83cc-49250a97b20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3A3D4F832196143A0011C10B861EB7B" ma:contentTypeVersion="15" ma:contentTypeDescription="Ein neues Dokument erstellen." ma:contentTypeScope="" ma:versionID="40b46979b05db221d46b302d6828e1f7">
  <xsd:schema xmlns:xsd="http://www.w3.org/2001/XMLSchema" xmlns:xs="http://www.w3.org/2001/XMLSchema" xmlns:p="http://schemas.microsoft.com/office/2006/metadata/properties" xmlns:ns2="22edc9e9-ce3e-4705-8eb3-c437d71ca131" xmlns:ns3="a53c734f-558f-4d8c-83cc-49250a97b209" targetNamespace="http://schemas.microsoft.com/office/2006/metadata/properties" ma:root="true" ma:fieldsID="1014073834feeb53da00dd2406acc79c" ns2:_="" ns3:_="">
    <xsd:import namespace="22edc9e9-ce3e-4705-8eb3-c437d71ca131"/>
    <xsd:import namespace="a53c734f-558f-4d8c-83cc-49250a97b20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edc9e9-ce3e-4705-8eb3-c437d71ca13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3d258328-f3ee-4f90-8b5c-fa013c087b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3c734f-558f-4d8c-83cc-49250a97b209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ecb00c0f-4df0-46b2-897c-89a786bdad39}" ma:internalName="TaxCatchAll" ma:showField="CatchAllData" ma:web="a53c734f-558f-4d8c-83cc-49250a97b2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42459A-EC06-40B6-A145-0EBA65EE90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EB0CD1-2C00-4783-A4B0-34137A4FF420}">
  <ds:schemaRefs>
    <ds:schemaRef ds:uri="22edc9e9-ce3e-4705-8eb3-c437d71ca131"/>
    <ds:schemaRef ds:uri="a53c734f-558f-4d8c-83cc-49250a97b20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FCA07B3-28F8-4090-AF37-638008CF4E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edc9e9-ce3e-4705-8eb3-c437d71ca131"/>
    <ds:schemaRef ds:uri="a53c734f-558f-4d8c-83cc-49250a97b2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8bcace8-4ce7-4949-868f-170f67122379}" enabled="0" method="" siteId="{28bcace8-4ce7-4949-868f-170f6712237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1546</TotalTime>
  <Words>415</Words>
  <Application>Microsoft Macintosh PowerPoint</Application>
  <PresentationFormat>Custom</PresentationFormat>
  <Paragraphs>102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 Light</vt:lpstr>
      <vt:lpstr>Wingdings</vt:lpstr>
      <vt:lpstr>Metropolitan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Demharter, Judith</dc:creator>
  <cp:lastModifiedBy>Jakob S. Wenzel</cp:lastModifiedBy>
  <cp:revision>15</cp:revision>
  <dcterms:created xsi:type="dcterms:W3CDTF">2024-11-11T08:38:58Z</dcterms:created>
  <dcterms:modified xsi:type="dcterms:W3CDTF">2026-06-11T21:40:15Z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2024-11-07T00:00:00Z</vt:filetime>
  </property>
  <property fmtid="{D5CDD505-2E9C-101B-9397-08002B2CF9AE}" pid="3" name="Creator">
    <vt:lpwstr>LaTeX with hyperref</vt:lpwstr>
  </property>
  <property fmtid="{D5CDD505-2E9C-101B-9397-08002B2CF9AE}" pid="4" name="LastSaved">
    <vt:filetime>2024-11-11T00:00:00Z</vt:filetime>
  </property>
  <property fmtid="{D5CDD505-2E9C-101B-9397-08002B2CF9AE}" pid="5" name="PTEX.Fullbanner">
    <vt:lpwstr>This is MiKTeX-pdfTeX 4.16.0 (1.40.25)</vt:lpwstr>
  </property>
  <property fmtid="{D5CDD505-2E9C-101B-9397-08002B2CF9AE}" pid="6" name="Producer">
    <vt:lpwstr>MiKTeX pdfTeX-1.40.25</vt:lpwstr>
  </property>
  <property fmtid="{D5CDD505-2E9C-101B-9397-08002B2CF9AE}" pid="7" name="ContentTypeId">
    <vt:lpwstr>0x01010013A3D4F832196143A0011C10B861EB7B</vt:lpwstr>
  </property>
  <property fmtid="{D5CDD505-2E9C-101B-9397-08002B2CF9AE}" pid="8" name="MediaServiceImageTags">
    <vt:lpwstr/>
  </property>
</Properties>
</file>